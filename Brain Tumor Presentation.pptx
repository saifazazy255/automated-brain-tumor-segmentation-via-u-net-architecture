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" charset="1" panose="020F0502020204030204"/>
      <p:regular r:id="rId16"/>
    </p:embeddedFont>
    <p:embeddedFont>
      <p:font typeface="Calibri (MS) Bold" charset="1" panose="020F070203040403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 Bold Italics" charset="1" panose="020F07020304040A0204"/>
      <p:regular r:id="rId19"/>
    </p:embeddedFont>
    <p:embeddedFont>
      <p:font typeface="Consolas" charset="1" panose="020B0609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9456" y="0"/>
            <a:ext cx="18068544" cy="109728"/>
            <a:chOff x="0" y="0"/>
            <a:chExt cx="24091392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91392" cy="146304"/>
            </a:xfrm>
            <a:custGeom>
              <a:avLst/>
              <a:gdLst/>
              <a:ahLst/>
              <a:cxnLst/>
              <a:rect r="r" b="b" t="t" l="l"/>
              <a:pathLst>
                <a:path h="146304" w="24091392">
                  <a:moveTo>
                    <a:pt x="0" y="0"/>
                  </a:moveTo>
                  <a:lnTo>
                    <a:pt x="24091392" y="0"/>
                  </a:lnTo>
                  <a:lnTo>
                    <a:pt x="24091392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5943" y="353063"/>
            <a:ext cx="6426203" cy="1031243"/>
            <a:chOff x="0" y="0"/>
            <a:chExt cx="8568271" cy="1374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8534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681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58011"/>
                  </a:lnTo>
                  <a:cubicBezTo>
                    <a:pt x="8568182" y="1367409"/>
                    <a:pt x="8560562" y="1374902"/>
                    <a:pt x="85512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8551291" y="1341120"/>
                  </a:lnTo>
                  <a:lnTo>
                    <a:pt x="8551291" y="1358011"/>
                  </a:lnTo>
                  <a:lnTo>
                    <a:pt x="8534400" y="135801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365760"/>
            <a:ext cx="6400800" cy="1005840"/>
            <a:chOff x="0" y="0"/>
            <a:chExt cx="853440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34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5344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90E0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Helwan National University  |  Faculty of Engineering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50240" y="1828800"/>
            <a:ext cx="3291840" cy="3291840"/>
            <a:chOff x="0" y="0"/>
            <a:chExt cx="4389120" cy="4389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19075"/>
              <a:ext cx="4389120" cy="460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" y="1920240"/>
            <a:ext cx="11521440" cy="1371600"/>
            <a:chOff x="0" y="0"/>
            <a:chExt cx="1536192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61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52400"/>
              <a:ext cx="15361920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Brain Tumor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0080" y="3200400"/>
            <a:ext cx="11521440" cy="1371600"/>
            <a:chOff x="0" y="0"/>
            <a:chExt cx="1536192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61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52400"/>
              <a:ext cx="15361920" cy="1981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0080" y="4480560"/>
            <a:ext cx="11521440" cy="1097280"/>
            <a:chOff x="0" y="0"/>
            <a:chExt cx="153619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61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1536192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>
                  <a:solidFill>
                    <a:srgbClr val="90E0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via U-Net Architecture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0080" y="5760720"/>
            <a:ext cx="10058400" cy="73152"/>
            <a:chOff x="0" y="0"/>
            <a:chExt cx="13411200" cy="975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0" cy="97536"/>
            </a:xfrm>
            <a:custGeom>
              <a:avLst/>
              <a:gdLst/>
              <a:ahLst/>
              <a:cxnLst/>
              <a:rect r="r" b="b" t="t" l="l"/>
              <a:pathLst>
                <a:path h="9753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6035040"/>
            <a:ext cx="8229600" cy="548640"/>
            <a:chOff x="0" y="0"/>
            <a:chExt cx="109728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Members: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0080" y="6583680"/>
            <a:ext cx="10058400" cy="2377440"/>
            <a:chOff x="0" y="0"/>
            <a:chExt cx="13411200" cy="3169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41120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Saif Hany Abdel-Aziz            (921220062)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 Ahmed Zaki                      (921220087)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Marwan Hassan Morsy       (921220142)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Mohamed Emad Eldin         (921220128)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Tasnim Ahmed Mohamed  (921220037)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9509760"/>
            <a:ext cx="17007840" cy="548640"/>
            <a:chOff x="0" y="0"/>
            <a:chExt cx="226771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2677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Dr. Samar M. Nour  |  Submission: 9 May 2026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" y="8778240"/>
            <a:ext cx="3108960" cy="640080"/>
            <a:chOff x="0" y="0"/>
            <a:chExt cx="414528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658368"/>
                  </a:lnTo>
                  <a:cubicBezTo>
                    <a:pt x="4145280" y="766064"/>
                    <a:pt x="4057904" y="853440"/>
                    <a:pt x="3950208" y="853440"/>
                  </a:cubicBezTo>
                  <a:lnTo>
                    <a:pt x="195072" y="853440"/>
                  </a:lnTo>
                  <a:cubicBezTo>
                    <a:pt x="87376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52B788">
                <a:alpha val="6392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" y="8778240"/>
            <a:ext cx="3108960" cy="640080"/>
            <a:chOff x="0" y="0"/>
            <a:chExt cx="414528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145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Dice: 0.86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297680" y="8778240"/>
            <a:ext cx="3108960" cy="640080"/>
            <a:chOff x="0" y="0"/>
            <a:chExt cx="414528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658368"/>
                  </a:lnTo>
                  <a:cubicBezTo>
                    <a:pt x="4145280" y="766064"/>
                    <a:pt x="4057904" y="853440"/>
                    <a:pt x="3950208" y="853440"/>
                  </a:cubicBezTo>
                  <a:lnTo>
                    <a:pt x="195072" y="853440"/>
                  </a:lnTo>
                  <a:cubicBezTo>
                    <a:pt x="87376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0B4D8">
                <a:alpha val="6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297680" y="8778240"/>
            <a:ext cx="3108960" cy="640080"/>
            <a:chOff x="0" y="0"/>
            <a:chExt cx="414528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145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IoU: 0.75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955280" y="8778240"/>
            <a:ext cx="3108960" cy="640080"/>
            <a:chOff x="0" y="0"/>
            <a:chExt cx="414528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950208" y="0"/>
                  </a:lnTo>
                  <a:cubicBezTo>
                    <a:pt x="4057904" y="0"/>
                    <a:pt x="4145280" y="87376"/>
                    <a:pt x="4145280" y="195072"/>
                  </a:cubicBezTo>
                  <a:lnTo>
                    <a:pt x="4145280" y="658368"/>
                  </a:lnTo>
                  <a:cubicBezTo>
                    <a:pt x="4145280" y="766064"/>
                    <a:pt x="4057904" y="853440"/>
                    <a:pt x="3950208" y="853440"/>
                  </a:cubicBezTo>
                  <a:lnTo>
                    <a:pt x="195072" y="853440"/>
                  </a:lnTo>
                  <a:cubicBezTo>
                    <a:pt x="87376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4A261">
                <a:alpha val="63922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955280" y="8778240"/>
            <a:ext cx="3108960" cy="640080"/>
            <a:chOff x="0" y="0"/>
            <a:chExt cx="414528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145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99.7%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53782" y="1118245"/>
            <a:ext cx="4979060" cy="4383738"/>
            <a:chOff x="0" y="0"/>
            <a:chExt cx="6638747" cy="5844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38798" cy="5845048"/>
            </a:xfrm>
            <a:custGeom>
              <a:avLst/>
              <a:gdLst/>
              <a:ahLst/>
              <a:cxnLst/>
              <a:rect r="r" b="b" t="t" l="l"/>
              <a:pathLst>
                <a:path h="5845048" w="6638798">
                  <a:moveTo>
                    <a:pt x="0" y="0"/>
                  </a:moveTo>
                  <a:lnTo>
                    <a:pt x="6638798" y="0"/>
                  </a:lnTo>
                  <a:lnTo>
                    <a:pt x="6638798" y="5845048"/>
                  </a:lnTo>
                  <a:lnTo>
                    <a:pt x="0" y="5845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88" t="0" r="-7287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automated segmentation matters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9590" y="2084070"/>
            <a:ext cx="8267700" cy="7170420"/>
            <a:chOff x="0" y="0"/>
            <a:chExt cx="11023600" cy="9560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109728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23600" cy="9560560"/>
            </a:xfrm>
            <a:custGeom>
              <a:avLst/>
              <a:gdLst/>
              <a:ahLst/>
              <a:cxnLst/>
              <a:rect r="r" b="b" t="t" l="l"/>
              <a:pathLst>
                <a:path h="956056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9535160"/>
                  </a:lnTo>
                  <a:cubicBezTo>
                    <a:pt x="11023600" y="9549130"/>
                    <a:pt x="11012170" y="9560560"/>
                    <a:pt x="10998200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10998200" y="9509760"/>
                  </a:lnTo>
                  <a:lnTo>
                    <a:pt x="10998200" y="9535160"/>
                  </a:lnTo>
                  <a:lnTo>
                    <a:pt x="10972800" y="953516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103120"/>
            <a:ext cx="8229600" cy="822960"/>
            <a:chOff x="0" y="0"/>
            <a:chExt cx="109728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972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Segmentation Issues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3108960"/>
            <a:ext cx="146304" cy="1371600"/>
            <a:chOff x="0" y="0"/>
            <a:chExt cx="195072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33856" y="3108960"/>
            <a:ext cx="7315200" cy="585216"/>
            <a:chOff x="0" y="0"/>
            <a:chExt cx="975360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753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Time-Consuming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3856" y="3694176"/>
            <a:ext cx="7315200" cy="822960"/>
            <a:chOff x="0" y="0"/>
            <a:chExt cx="97536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5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MRI volume contains dozens of slices requiring expert review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5120640"/>
            <a:ext cx="146304" cy="1371600"/>
            <a:chOff x="0" y="0"/>
            <a:chExt cx="195072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3856" y="5120640"/>
            <a:ext cx="7315200" cy="585216"/>
            <a:chOff x="0" y="0"/>
            <a:chExt cx="975360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753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Subjective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3856" y="5705856"/>
            <a:ext cx="7315200" cy="822960"/>
            <a:chOff x="0" y="0"/>
            <a:chExt cx="97536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75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Significant inter-observer variability between specialists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7132320"/>
            <a:ext cx="146304" cy="1371600"/>
            <a:chOff x="0" y="0"/>
            <a:chExt cx="195072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33856" y="7132320"/>
            <a:ext cx="7315200" cy="585216"/>
            <a:chOff x="0" y="0"/>
            <a:chExt cx="975360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753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Load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3856" y="7717536"/>
            <a:ext cx="7315200" cy="822960"/>
            <a:chOff x="0" y="0"/>
            <a:chExt cx="97536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75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High-pressure settings increase the risk of missing small lesions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07830" y="2084070"/>
            <a:ext cx="8267700" cy="7170420"/>
            <a:chOff x="0" y="0"/>
            <a:chExt cx="11023600" cy="9560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5400" y="25400"/>
              <a:ext cx="109728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23600" cy="9560560"/>
            </a:xfrm>
            <a:custGeom>
              <a:avLst/>
              <a:gdLst/>
              <a:ahLst/>
              <a:cxnLst/>
              <a:rect r="r" b="b" t="t" l="l"/>
              <a:pathLst>
                <a:path h="956056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9535160"/>
                  </a:lnTo>
                  <a:cubicBezTo>
                    <a:pt x="11023600" y="9549130"/>
                    <a:pt x="11012170" y="9560560"/>
                    <a:pt x="10998200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10998200" y="9509760"/>
                  </a:lnTo>
                  <a:lnTo>
                    <a:pt x="10998200" y="9535160"/>
                  </a:lnTo>
                  <a:lnTo>
                    <a:pt x="10972800" y="953516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26880" y="2103120"/>
            <a:ext cx="8229600" cy="822960"/>
            <a:chOff x="0" y="0"/>
            <a:chExt cx="1097280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9728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Technical Hurdles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0" y="3108960"/>
            <a:ext cx="146304" cy="1371600"/>
            <a:chOff x="0" y="0"/>
            <a:chExt cx="195072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912096" y="3108960"/>
            <a:ext cx="7315200" cy="585216"/>
            <a:chOff x="0" y="0"/>
            <a:chExt cx="9753600" cy="780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753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 Contrast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12096" y="3694176"/>
            <a:ext cx="7315200" cy="822960"/>
            <a:chOff x="0" y="0"/>
            <a:chExt cx="975360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75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Tumors often share similar intensity levels to healthy brain tissue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1200" y="5120640"/>
            <a:ext cx="146304" cy="1371600"/>
            <a:chOff x="0" y="0"/>
            <a:chExt cx="195072" cy="1828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5072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912096" y="5120640"/>
            <a:ext cx="7315200" cy="585216"/>
            <a:chOff x="0" y="0"/>
            <a:chExt cx="975360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Imbalance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12096" y="5705856"/>
            <a:ext cx="7315200" cy="822960"/>
            <a:chOff x="0" y="0"/>
            <a:chExt cx="975360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75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Tumor pixels are statistically rare vs. background pixels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26880" y="7223760"/>
            <a:ext cx="8229600" cy="2011680"/>
            <a:chOff x="0" y="0"/>
            <a:chExt cx="10972800" cy="2682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00B4D8">
                <a:alpha val="72157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326880" y="7315200"/>
            <a:ext cx="8229600" cy="694944"/>
            <a:chOff x="0" y="0"/>
            <a:chExt cx="1097280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972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Solution: Deep Learning with U-Net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418320" y="8008239"/>
            <a:ext cx="804672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E8F4FD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Automated, objective, fast segmentation at scale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Historical Context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evolution of medical image segmentation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237" y="2077717"/>
            <a:ext cx="5537197" cy="7183117"/>
            <a:chOff x="0" y="0"/>
            <a:chExt cx="7382929" cy="95774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3909" y="33909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83018" cy="9577578"/>
            </a:xfrm>
            <a:custGeom>
              <a:avLst/>
              <a:gdLst/>
              <a:ahLst/>
              <a:cxnLst/>
              <a:rect r="r" b="b" t="t" l="l"/>
              <a:pathLst>
                <a:path h="9577578" w="7383018">
                  <a:moveTo>
                    <a:pt x="33909" y="0"/>
                  </a:moveTo>
                  <a:lnTo>
                    <a:pt x="7349109" y="0"/>
                  </a:lnTo>
                  <a:cubicBezTo>
                    <a:pt x="7367778" y="0"/>
                    <a:pt x="7383018" y="15113"/>
                    <a:pt x="7383018" y="33909"/>
                  </a:cubicBezTo>
                  <a:lnTo>
                    <a:pt x="7383018" y="9543669"/>
                  </a:lnTo>
                  <a:cubicBezTo>
                    <a:pt x="7383018" y="9562338"/>
                    <a:pt x="7367905" y="9577578"/>
                    <a:pt x="7349109" y="9577578"/>
                  </a:cubicBezTo>
                  <a:lnTo>
                    <a:pt x="33909" y="9577578"/>
                  </a:lnTo>
                  <a:cubicBezTo>
                    <a:pt x="15240" y="9577578"/>
                    <a:pt x="0" y="9562465"/>
                    <a:pt x="0" y="9543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543669"/>
                  </a:lnTo>
                  <a:lnTo>
                    <a:pt x="33909" y="9543669"/>
                  </a:lnTo>
                  <a:lnTo>
                    <a:pt x="33909" y="9509760"/>
                  </a:lnTo>
                  <a:lnTo>
                    <a:pt x="7349109" y="9509760"/>
                  </a:lnTo>
                  <a:lnTo>
                    <a:pt x="7349109" y="9543669"/>
                  </a:lnTo>
                  <a:lnTo>
                    <a:pt x="7315200" y="9543669"/>
                  </a:lnTo>
                  <a:lnTo>
                    <a:pt x="7315200" y="33909"/>
                  </a:lnTo>
                  <a:lnTo>
                    <a:pt x="7349109" y="33909"/>
                  </a:lnTo>
                  <a:lnTo>
                    <a:pt x="73491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103120"/>
            <a:ext cx="5486400" cy="914400"/>
            <a:chOff x="0" y="0"/>
            <a:chExt cx="7315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2103120"/>
            <a:ext cx="5486400" cy="914400"/>
            <a:chOff x="0" y="0"/>
            <a:chExt cx="73152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315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Pre-2015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8640" y="3108960"/>
            <a:ext cx="5486400" cy="1097280"/>
            <a:chOff x="0" y="0"/>
            <a:chExt cx="731520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73152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4206240"/>
            <a:ext cx="5120640" cy="694944"/>
            <a:chOff x="0" y="0"/>
            <a:chExt cx="682752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Sliding Window Era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937760"/>
            <a:ext cx="4937760" cy="4023360"/>
            <a:chOff x="0" y="0"/>
            <a:chExt cx="6583680" cy="536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58368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CNNs predicted pixel labels by analyzing small surrounding patches.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Problems: Extremely slow, no global context — couldn't see the whole organ at once.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75397" y="2077717"/>
            <a:ext cx="5537197" cy="7183117"/>
            <a:chOff x="0" y="0"/>
            <a:chExt cx="7382929" cy="95774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33909" y="33909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83018" cy="9577578"/>
            </a:xfrm>
            <a:custGeom>
              <a:avLst/>
              <a:gdLst/>
              <a:ahLst/>
              <a:cxnLst/>
              <a:rect r="r" b="b" t="t" l="l"/>
              <a:pathLst>
                <a:path h="9577578" w="7383018">
                  <a:moveTo>
                    <a:pt x="33909" y="0"/>
                  </a:moveTo>
                  <a:lnTo>
                    <a:pt x="7349109" y="0"/>
                  </a:lnTo>
                  <a:cubicBezTo>
                    <a:pt x="7367778" y="0"/>
                    <a:pt x="7383018" y="15113"/>
                    <a:pt x="7383018" y="33909"/>
                  </a:cubicBezTo>
                  <a:lnTo>
                    <a:pt x="7383018" y="9543669"/>
                  </a:lnTo>
                  <a:cubicBezTo>
                    <a:pt x="7383018" y="9562338"/>
                    <a:pt x="7367905" y="9577578"/>
                    <a:pt x="7349109" y="9577578"/>
                  </a:cubicBezTo>
                  <a:lnTo>
                    <a:pt x="33909" y="9577578"/>
                  </a:lnTo>
                  <a:cubicBezTo>
                    <a:pt x="15240" y="9577578"/>
                    <a:pt x="0" y="9562465"/>
                    <a:pt x="0" y="9543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543669"/>
                  </a:lnTo>
                  <a:lnTo>
                    <a:pt x="33909" y="9543669"/>
                  </a:lnTo>
                  <a:lnTo>
                    <a:pt x="33909" y="9509760"/>
                  </a:lnTo>
                  <a:lnTo>
                    <a:pt x="7349109" y="9509760"/>
                  </a:lnTo>
                  <a:lnTo>
                    <a:pt x="7349109" y="9543669"/>
                  </a:lnTo>
                  <a:lnTo>
                    <a:pt x="7315200" y="9543669"/>
                  </a:lnTo>
                  <a:lnTo>
                    <a:pt x="7315200" y="33909"/>
                  </a:lnTo>
                  <a:lnTo>
                    <a:pt x="7349109" y="33909"/>
                  </a:lnTo>
                  <a:lnTo>
                    <a:pt x="73491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00800" y="2103120"/>
            <a:ext cx="5486400" cy="914400"/>
            <a:chOff x="0" y="0"/>
            <a:chExt cx="7315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0" y="2103120"/>
            <a:ext cx="5486400" cy="914400"/>
            <a:chOff x="0" y="0"/>
            <a:chExt cx="7315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315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2015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0" y="3108960"/>
            <a:ext cx="5486400" cy="1097280"/>
            <a:chOff x="0" y="0"/>
            <a:chExt cx="731520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23825"/>
              <a:ext cx="73152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83680" y="4206240"/>
            <a:ext cx="5120640" cy="694944"/>
            <a:chOff x="0" y="0"/>
            <a:chExt cx="682752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U-Net Breakthrough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4937760"/>
            <a:ext cx="4937760" cy="4023360"/>
            <a:chOff x="0" y="0"/>
            <a:chExt cx="6583680" cy="5364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58368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Ronneberger et al. introduced U-Net at MICCAI conference — a revolutionary modification of the Fully Convolutional Network (FCN).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27557" y="2077717"/>
            <a:ext cx="5537197" cy="7183117"/>
            <a:chOff x="0" y="0"/>
            <a:chExt cx="7382929" cy="95774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3909" y="33909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83018" cy="9577578"/>
            </a:xfrm>
            <a:custGeom>
              <a:avLst/>
              <a:gdLst/>
              <a:ahLst/>
              <a:cxnLst/>
              <a:rect r="r" b="b" t="t" l="l"/>
              <a:pathLst>
                <a:path h="9577578" w="7383018">
                  <a:moveTo>
                    <a:pt x="33909" y="0"/>
                  </a:moveTo>
                  <a:lnTo>
                    <a:pt x="7349109" y="0"/>
                  </a:lnTo>
                  <a:cubicBezTo>
                    <a:pt x="7367778" y="0"/>
                    <a:pt x="7383018" y="15113"/>
                    <a:pt x="7383018" y="33909"/>
                  </a:cubicBezTo>
                  <a:lnTo>
                    <a:pt x="7383018" y="9543669"/>
                  </a:lnTo>
                  <a:cubicBezTo>
                    <a:pt x="7383018" y="9562338"/>
                    <a:pt x="7367905" y="9577578"/>
                    <a:pt x="7349109" y="9577578"/>
                  </a:cubicBezTo>
                  <a:lnTo>
                    <a:pt x="33909" y="9577578"/>
                  </a:lnTo>
                  <a:cubicBezTo>
                    <a:pt x="15240" y="9577578"/>
                    <a:pt x="0" y="9562465"/>
                    <a:pt x="0" y="9543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9543669"/>
                  </a:lnTo>
                  <a:lnTo>
                    <a:pt x="33909" y="9543669"/>
                  </a:lnTo>
                  <a:lnTo>
                    <a:pt x="33909" y="9509760"/>
                  </a:lnTo>
                  <a:lnTo>
                    <a:pt x="7349109" y="9509760"/>
                  </a:lnTo>
                  <a:lnTo>
                    <a:pt x="7349109" y="9543669"/>
                  </a:lnTo>
                  <a:lnTo>
                    <a:pt x="7315200" y="9543669"/>
                  </a:lnTo>
                  <a:lnTo>
                    <a:pt x="7315200" y="33909"/>
                  </a:lnTo>
                  <a:lnTo>
                    <a:pt x="7349109" y="33909"/>
                  </a:lnTo>
                  <a:lnTo>
                    <a:pt x="73491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252960" y="2103120"/>
            <a:ext cx="5486400" cy="914400"/>
            <a:chOff x="0" y="0"/>
            <a:chExt cx="73152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252960" y="2103120"/>
            <a:ext cx="5486400" cy="914400"/>
            <a:chOff x="0" y="0"/>
            <a:chExt cx="731520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7315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252960" y="3108960"/>
            <a:ext cx="5486400" cy="1097280"/>
            <a:chOff x="0" y="0"/>
            <a:chExt cx="731520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23825"/>
              <a:ext cx="73152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435840" y="4206240"/>
            <a:ext cx="5120640" cy="694944"/>
            <a:chOff x="0" y="0"/>
            <a:chExt cx="682752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Goals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27280" y="4937760"/>
            <a:ext cx="4937760" cy="4023360"/>
            <a:chOff x="0" y="0"/>
            <a:chExt cx="6583680" cy="5364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36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543" t="0" r="-5454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583680" cy="540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 with very few training images (a common medical challenge) while delivering high-resolution, precise output at scale.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009637" y="3815077"/>
            <a:ext cx="416557" cy="50797"/>
            <a:chOff x="0" y="0"/>
            <a:chExt cx="555409" cy="677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A8B2B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861797" y="3815077"/>
            <a:ext cx="416557" cy="50797"/>
            <a:chOff x="0" y="0"/>
            <a:chExt cx="555409" cy="677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A8B2B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48640" y="9509760"/>
            <a:ext cx="17190720" cy="548640"/>
            <a:chOff x="0" y="0"/>
            <a:chExt cx="2292096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A8B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Ronneberger, Fischer &amp; Brox (2015) — U-Net: Convolutional Networks for Biomedical Image Segmentation, MICCAI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U-Net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Encoder–Decoder with Skip Connections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383" y="1998983"/>
            <a:ext cx="1031243" cy="4597403"/>
            <a:chOff x="0" y="0"/>
            <a:chExt cx="1374991" cy="6129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341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D4E8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4902" cy="6129782"/>
            </a:xfrm>
            <a:custGeom>
              <a:avLst/>
              <a:gdLst/>
              <a:ahLst/>
              <a:cxnLst/>
              <a:rect r="r" b="b" t="t" l="l"/>
              <a:pathLst>
                <a:path h="61297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6112891"/>
                  </a:lnTo>
                  <a:cubicBezTo>
                    <a:pt x="1374902" y="6122289"/>
                    <a:pt x="1367282" y="6129782"/>
                    <a:pt x="135801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1358011" y="6096000"/>
                  </a:lnTo>
                  <a:lnTo>
                    <a:pt x="1358011" y="6112891"/>
                  </a:lnTo>
                  <a:lnTo>
                    <a:pt x="1341120" y="61128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4023360"/>
            <a:ext cx="1005840" cy="548640"/>
            <a:chOff x="0" y="0"/>
            <a:chExt cx="134112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64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16103" y="2639063"/>
            <a:ext cx="1031243" cy="3957323"/>
            <a:chOff x="0" y="0"/>
            <a:chExt cx="1374991" cy="52764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341120" cy="5242560"/>
            </a:xfrm>
            <a:custGeom>
              <a:avLst/>
              <a:gdLst/>
              <a:ahLst/>
              <a:cxnLst/>
              <a:rect r="r" b="b" t="t" l="l"/>
              <a:pathLst>
                <a:path h="52425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A5276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4902" cy="5276342"/>
            </a:xfrm>
            <a:custGeom>
              <a:avLst/>
              <a:gdLst/>
              <a:ahLst/>
              <a:cxnLst/>
              <a:rect r="r" b="b" t="t" l="l"/>
              <a:pathLst>
                <a:path h="527634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259451"/>
                  </a:lnTo>
                  <a:cubicBezTo>
                    <a:pt x="1374902" y="5268849"/>
                    <a:pt x="1367282" y="5276342"/>
                    <a:pt x="135801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1358011" y="5242560"/>
                  </a:lnTo>
                  <a:lnTo>
                    <a:pt x="1358011" y="5259451"/>
                  </a:lnTo>
                  <a:lnTo>
                    <a:pt x="1341120" y="525945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828800" y="4343400"/>
            <a:ext cx="1005840" cy="548640"/>
            <a:chOff x="0" y="0"/>
            <a:chExt cx="13411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128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004823" y="3279143"/>
            <a:ext cx="1031243" cy="3317243"/>
            <a:chOff x="0" y="0"/>
            <a:chExt cx="1374991" cy="4422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341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B6CA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4902" cy="4422902"/>
            </a:xfrm>
            <a:custGeom>
              <a:avLst/>
              <a:gdLst/>
              <a:ahLst/>
              <a:cxnLst/>
              <a:rect r="r" b="b" t="t" l="l"/>
              <a:pathLst>
                <a:path h="44229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406011"/>
                  </a:lnTo>
                  <a:cubicBezTo>
                    <a:pt x="1374902" y="4415409"/>
                    <a:pt x="1367282" y="4422902"/>
                    <a:pt x="135801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358011" y="4389120"/>
                  </a:lnTo>
                  <a:lnTo>
                    <a:pt x="1358011" y="4406011"/>
                  </a:lnTo>
                  <a:lnTo>
                    <a:pt x="1341120" y="44060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017520" y="4663440"/>
            <a:ext cx="1005840" cy="548640"/>
            <a:chOff x="0" y="0"/>
            <a:chExt cx="13411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256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93543" y="3919223"/>
            <a:ext cx="1031243" cy="2677163"/>
            <a:chOff x="0" y="0"/>
            <a:chExt cx="1374991" cy="35695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206240" y="4983480"/>
            <a:ext cx="1005840" cy="548640"/>
            <a:chOff x="0" y="0"/>
            <a:chExt cx="13411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512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67350" y="6747510"/>
            <a:ext cx="1866900" cy="1226820"/>
            <a:chOff x="0" y="0"/>
            <a:chExt cx="2489200" cy="1635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25400"/>
              <a:ext cx="2438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89200" cy="1635760"/>
            </a:xfrm>
            <a:custGeom>
              <a:avLst/>
              <a:gdLst/>
              <a:ahLst/>
              <a:cxnLst/>
              <a:rect r="r" b="b" t="t" l="l"/>
              <a:pathLst>
                <a:path h="1635760" w="2489200">
                  <a:moveTo>
                    <a:pt x="25400" y="0"/>
                  </a:moveTo>
                  <a:lnTo>
                    <a:pt x="2463800" y="0"/>
                  </a:lnTo>
                  <a:cubicBezTo>
                    <a:pt x="2477770" y="0"/>
                    <a:pt x="2489200" y="11430"/>
                    <a:pt x="2489200" y="25400"/>
                  </a:cubicBezTo>
                  <a:lnTo>
                    <a:pt x="2489200" y="1610360"/>
                  </a:lnTo>
                  <a:cubicBezTo>
                    <a:pt x="2489200" y="1624330"/>
                    <a:pt x="2477770" y="1635760"/>
                    <a:pt x="246380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2463800" y="1584960"/>
                  </a:lnTo>
                  <a:lnTo>
                    <a:pt x="2463800" y="1610360"/>
                  </a:lnTo>
                  <a:lnTo>
                    <a:pt x="2438400" y="1610360"/>
                  </a:lnTo>
                  <a:lnTo>
                    <a:pt x="2438400" y="25400"/>
                  </a:lnTo>
                  <a:lnTo>
                    <a:pt x="2463800" y="25400"/>
                  </a:lnTo>
                  <a:lnTo>
                    <a:pt x="24638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0" y="6766560"/>
            <a:ext cx="1828800" cy="1188720"/>
            <a:chOff x="0" y="0"/>
            <a:chExt cx="243840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43840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Bottleneck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1024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51143" y="3919223"/>
            <a:ext cx="1031243" cy="2677163"/>
            <a:chOff x="0" y="0"/>
            <a:chExt cx="1374991" cy="35695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34112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077B6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74902" cy="3569462"/>
            </a:xfrm>
            <a:custGeom>
              <a:avLst/>
              <a:gdLst/>
              <a:ahLst/>
              <a:cxnLst/>
              <a:rect r="r" b="b" t="t" l="l"/>
              <a:pathLst>
                <a:path h="356946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552571"/>
                  </a:lnTo>
                  <a:cubicBezTo>
                    <a:pt x="1374902" y="3561969"/>
                    <a:pt x="1367282" y="3569462"/>
                    <a:pt x="1358011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358011" y="3535680"/>
                  </a:lnTo>
                  <a:lnTo>
                    <a:pt x="1358011" y="3552571"/>
                  </a:lnTo>
                  <a:lnTo>
                    <a:pt x="1341120" y="355257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E0E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63840" y="4983480"/>
            <a:ext cx="1005840" cy="548640"/>
            <a:chOff x="0" y="0"/>
            <a:chExt cx="13411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512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39863" y="3279143"/>
            <a:ext cx="1031243" cy="3317243"/>
            <a:chOff x="0" y="0"/>
            <a:chExt cx="1374991" cy="44229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341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B6CA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4902" cy="4422902"/>
            </a:xfrm>
            <a:custGeom>
              <a:avLst/>
              <a:gdLst/>
              <a:ahLst/>
              <a:cxnLst/>
              <a:rect r="r" b="b" t="t" l="l"/>
              <a:pathLst>
                <a:path h="44229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406011"/>
                  </a:lnTo>
                  <a:cubicBezTo>
                    <a:pt x="1374902" y="4415409"/>
                    <a:pt x="1367282" y="4422902"/>
                    <a:pt x="135801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1358011" y="4389120"/>
                  </a:lnTo>
                  <a:lnTo>
                    <a:pt x="1358011" y="4406011"/>
                  </a:lnTo>
                  <a:lnTo>
                    <a:pt x="1341120" y="44060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E0E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52560" y="4663440"/>
            <a:ext cx="1005840" cy="548640"/>
            <a:chOff x="0" y="0"/>
            <a:chExt cx="13411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256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28583" y="2639063"/>
            <a:ext cx="1031243" cy="3957323"/>
            <a:chOff x="0" y="0"/>
            <a:chExt cx="1374991" cy="52764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341120" cy="5242560"/>
            </a:xfrm>
            <a:custGeom>
              <a:avLst/>
              <a:gdLst/>
              <a:ahLst/>
              <a:cxnLst/>
              <a:rect r="r" b="b" t="t" l="l"/>
              <a:pathLst>
                <a:path h="52425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A5276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74902" cy="5276342"/>
            </a:xfrm>
            <a:custGeom>
              <a:avLst/>
              <a:gdLst/>
              <a:ahLst/>
              <a:cxnLst/>
              <a:rect r="r" b="b" t="t" l="l"/>
              <a:pathLst>
                <a:path h="527634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5259451"/>
                  </a:lnTo>
                  <a:cubicBezTo>
                    <a:pt x="1374902" y="5268849"/>
                    <a:pt x="1367282" y="5276342"/>
                    <a:pt x="135801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1358011" y="5242560"/>
                  </a:lnTo>
                  <a:lnTo>
                    <a:pt x="1358011" y="5259451"/>
                  </a:lnTo>
                  <a:lnTo>
                    <a:pt x="1341120" y="525945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E0E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241280" y="4343400"/>
            <a:ext cx="1005840" cy="548640"/>
            <a:chOff x="0" y="0"/>
            <a:chExt cx="134112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128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17303" y="1998983"/>
            <a:ext cx="1031243" cy="4597403"/>
            <a:chOff x="0" y="0"/>
            <a:chExt cx="1374991" cy="61298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341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D4E89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74902" cy="6129782"/>
            </a:xfrm>
            <a:custGeom>
              <a:avLst/>
              <a:gdLst/>
              <a:ahLst/>
              <a:cxnLst/>
              <a:rect r="r" b="b" t="t" l="l"/>
              <a:pathLst>
                <a:path h="61297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6112891"/>
                  </a:lnTo>
                  <a:cubicBezTo>
                    <a:pt x="1374902" y="6122289"/>
                    <a:pt x="1367282" y="6129782"/>
                    <a:pt x="135801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1358011" y="6096000"/>
                  </a:lnTo>
                  <a:lnTo>
                    <a:pt x="1358011" y="6112891"/>
                  </a:lnTo>
                  <a:lnTo>
                    <a:pt x="1341120" y="61128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E0E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430000" y="4023360"/>
            <a:ext cx="1005840" cy="548640"/>
            <a:chOff x="0" y="0"/>
            <a:chExt cx="13411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4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3411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 64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26870" y="2358390"/>
            <a:ext cx="8267700" cy="38100"/>
            <a:chOff x="0" y="0"/>
            <a:chExt cx="11023600" cy="50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5400" y="0"/>
              <a:ext cx="10820400" cy="50800"/>
            </a:xfrm>
            <a:custGeom>
              <a:avLst/>
              <a:gdLst/>
              <a:ahLst/>
              <a:cxnLst/>
              <a:rect r="r" b="b" t="t" l="l"/>
              <a:pathLst>
                <a:path h="50800" w="10820400">
                  <a:moveTo>
                    <a:pt x="3556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355600" y="50800"/>
                  </a:lnTo>
                  <a:close/>
                  <a:moveTo>
                    <a:pt x="711200" y="0"/>
                  </a:moveTo>
                  <a:lnTo>
                    <a:pt x="863600" y="0"/>
                  </a:lnTo>
                  <a:lnTo>
                    <a:pt x="863600" y="50800"/>
                  </a:lnTo>
                  <a:lnTo>
                    <a:pt x="711200" y="50800"/>
                  </a:lnTo>
                  <a:close/>
                  <a:moveTo>
                    <a:pt x="106680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1066800" y="50800"/>
                  </a:lnTo>
                  <a:close/>
                  <a:moveTo>
                    <a:pt x="1422400" y="50800"/>
                  </a:moveTo>
                  <a:lnTo>
                    <a:pt x="1574800" y="50800"/>
                  </a:lnTo>
                  <a:lnTo>
                    <a:pt x="1422400" y="50800"/>
                  </a:lnTo>
                  <a:close/>
                  <a:moveTo>
                    <a:pt x="1778000" y="50800"/>
                  </a:moveTo>
                  <a:lnTo>
                    <a:pt x="1930400" y="50800"/>
                  </a:lnTo>
                  <a:lnTo>
                    <a:pt x="1778000" y="50800"/>
                  </a:lnTo>
                  <a:close/>
                  <a:moveTo>
                    <a:pt x="2133600" y="50800"/>
                  </a:moveTo>
                  <a:lnTo>
                    <a:pt x="2286000" y="50800"/>
                  </a:lnTo>
                  <a:lnTo>
                    <a:pt x="2133600" y="50800"/>
                  </a:lnTo>
                  <a:close/>
                  <a:moveTo>
                    <a:pt x="2489200" y="50800"/>
                  </a:moveTo>
                  <a:lnTo>
                    <a:pt x="2641600" y="50800"/>
                  </a:lnTo>
                  <a:lnTo>
                    <a:pt x="2489200" y="50800"/>
                  </a:lnTo>
                  <a:close/>
                  <a:moveTo>
                    <a:pt x="2844800" y="50800"/>
                  </a:moveTo>
                  <a:lnTo>
                    <a:pt x="2997200" y="50800"/>
                  </a:lnTo>
                  <a:lnTo>
                    <a:pt x="2844800" y="50800"/>
                  </a:lnTo>
                  <a:close/>
                  <a:moveTo>
                    <a:pt x="3200400" y="50800"/>
                  </a:moveTo>
                  <a:lnTo>
                    <a:pt x="3352800" y="50800"/>
                  </a:lnTo>
                  <a:lnTo>
                    <a:pt x="3200400" y="50800"/>
                  </a:lnTo>
                  <a:close/>
                  <a:moveTo>
                    <a:pt x="3556000" y="50800"/>
                  </a:moveTo>
                  <a:lnTo>
                    <a:pt x="3708400" y="50800"/>
                  </a:lnTo>
                  <a:lnTo>
                    <a:pt x="3556000" y="50800"/>
                  </a:lnTo>
                  <a:close/>
                  <a:moveTo>
                    <a:pt x="3911600" y="50800"/>
                  </a:moveTo>
                  <a:lnTo>
                    <a:pt x="4064000" y="50800"/>
                  </a:lnTo>
                  <a:lnTo>
                    <a:pt x="3911600" y="50800"/>
                  </a:lnTo>
                  <a:close/>
                  <a:moveTo>
                    <a:pt x="4267200" y="50800"/>
                  </a:moveTo>
                  <a:lnTo>
                    <a:pt x="4419600" y="50800"/>
                  </a:lnTo>
                  <a:lnTo>
                    <a:pt x="4267200" y="50800"/>
                  </a:lnTo>
                  <a:close/>
                  <a:moveTo>
                    <a:pt x="4622800" y="50800"/>
                  </a:moveTo>
                  <a:lnTo>
                    <a:pt x="4775200" y="50800"/>
                  </a:lnTo>
                  <a:lnTo>
                    <a:pt x="4622800" y="50800"/>
                  </a:lnTo>
                  <a:close/>
                  <a:moveTo>
                    <a:pt x="4978400" y="50800"/>
                  </a:moveTo>
                  <a:lnTo>
                    <a:pt x="5130800" y="50800"/>
                  </a:lnTo>
                  <a:lnTo>
                    <a:pt x="4978400" y="50800"/>
                  </a:lnTo>
                  <a:close/>
                  <a:moveTo>
                    <a:pt x="5334000" y="50800"/>
                  </a:moveTo>
                  <a:lnTo>
                    <a:pt x="5486400" y="50800"/>
                  </a:lnTo>
                  <a:lnTo>
                    <a:pt x="5334000" y="50800"/>
                  </a:lnTo>
                  <a:close/>
                  <a:moveTo>
                    <a:pt x="5689600" y="50800"/>
                  </a:moveTo>
                  <a:lnTo>
                    <a:pt x="5842000" y="50800"/>
                  </a:lnTo>
                  <a:lnTo>
                    <a:pt x="5689600" y="50800"/>
                  </a:lnTo>
                  <a:close/>
                  <a:moveTo>
                    <a:pt x="6045200" y="50800"/>
                  </a:moveTo>
                  <a:lnTo>
                    <a:pt x="6197600" y="50800"/>
                  </a:lnTo>
                  <a:lnTo>
                    <a:pt x="6045200" y="50800"/>
                  </a:lnTo>
                  <a:close/>
                  <a:moveTo>
                    <a:pt x="6400800" y="50800"/>
                  </a:moveTo>
                  <a:lnTo>
                    <a:pt x="6553200" y="50800"/>
                  </a:lnTo>
                  <a:lnTo>
                    <a:pt x="6400800" y="50800"/>
                  </a:lnTo>
                  <a:close/>
                  <a:moveTo>
                    <a:pt x="6756400" y="50800"/>
                  </a:moveTo>
                  <a:lnTo>
                    <a:pt x="6908800" y="50800"/>
                  </a:lnTo>
                  <a:lnTo>
                    <a:pt x="6756400" y="50800"/>
                  </a:lnTo>
                  <a:close/>
                  <a:moveTo>
                    <a:pt x="7112000" y="50800"/>
                  </a:moveTo>
                  <a:lnTo>
                    <a:pt x="7264400" y="50800"/>
                  </a:lnTo>
                  <a:lnTo>
                    <a:pt x="7112000" y="50800"/>
                  </a:lnTo>
                  <a:close/>
                  <a:moveTo>
                    <a:pt x="7467600" y="50800"/>
                  </a:moveTo>
                  <a:lnTo>
                    <a:pt x="7620000" y="50800"/>
                  </a:lnTo>
                  <a:lnTo>
                    <a:pt x="7467600" y="50800"/>
                  </a:lnTo>
                  <a:close/>
                  <a:moveTo>
                    <a:pt x="7823200" y="50800"/>
                  </a:moveTo>
                  <a:lnTo>
                    <a:pt x="7975600" y="50800"/>
                  </a:lnTo>
                  <a:lnTo>
                    <a:pt x="7823200" y="50800"/>
                  </a:lnTo>
                  <a:close/>
                  <a:moveTo>
                    <a:pt x="8178800" y="50800"/>
                  </a:moveTo>
                  <a:lnTo>
                    <a:pt x="8331200" y="50800"/>
                  </a:lnTo>
                  <a:lnTo>
                    <a:pt x="8178800" y="50800"/>
                  </a:lnTo>
                  <a:close/>
                  <a:moveTo>
                    <a:pt x="8534400" y="50800"/>
                  </a:moveTo>
                  <a:lnTo>
                    <a:pt x="8686800" y="50800"/>
                  </a:lnTo>
                  <a:lnTo>
                    <a:pt x="8534400" y="50800"/>
                  </a:lnTo>
                  <a:close/>
                  <a:moveTo>
                    <a:pt x="8890000" y="50800"/>
                  </a:moveTo>
                  <a:lnTo>
                    <a:pt x="9042400" y="50800"/>
                  </a:lnTo>
                  <a:lnTo>
                    <a:pt x="8890000" y="50800"/>
                  </a:lnTo>
                  <a:close/>
                  <a:moveTo>
                    <a:pt x="9245600" y="50800"/>
                  </a:moveTo>
                  <a:lnTo>
                    <a:pt x="9398000" y="50800"/>
                  </a:lnTo>
                  <a:lnTo>
                    <a:pt x="9245600" y="50800"/>
                  </a:lnTo>
                  <a:close/>
                  <a:moveTo>
                    <a:pt x="9601200" y="50800"/>
                  </a:moveTo>
                  <a:lnTo>
                    <a:pt x="9753600" y="50800"/>
                  </a:lnTo>
                  <a:lnTo>
                    <a:pt x="9601200" y="50800"/>
                  </a:lnTo>
                  <a:close/>
                  <a:moveTo>
                    <a:pt x="9956800" y="50800"/>
                  </a:moveTo>
                  <a:lnTo>
                    <a:pt x="10109200" y="50800"/>
                  </a:lnTo>
                  <a:lnTo>
                    <a:pt x="9956800" y="50800"/>
                  </a:lnTo>
                  <a:close/>
                  <a:moveTo>
                    <a:pt x="10312400" y="50800"/>
                  </a:moveTo>
                  <a:lnTo>
                    <a:pt x="10464800" y="50800"/>
                  </a:lnTo>
                  <a:lnTo>
                    <a:pt x="10312400" y="50800"/>
                  </a:lnTo>
                  <a:close/>
                  <a:moveTo>
                    <a:pt x="10668000" y="50800"/>
                  </a:moveTo>
                  <a:lnTo>
                    <a:pt x="10820400" y="50800"/>
                  </a:lnTo>
                  <a:lnTo>
                    <a:pt x="10668000" y="50800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815590" y="2998470"/>
            <a:ext cx="5890260" cy="38100"/>
            <a:chOff x="0" y="0"/>
            <a:chExt cx="7853680" cy="50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25400" y="0"/>
              <a:ext cx="7620000" cy="50800"/>
            </a:xfrm>
            <a:custGeom>
              <a:avLst/>
              <a:gdLst/>
              <a:ahLst/>
              <a:cxnLst/>
              <a:rect r="r" b="b" t="t" l="l"/>
              <a:pathLst>
                <a:path h="50800" w="7620000">
                  <a:moveTo>
                    <a:pt x="3556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355600" y="50800"/>
                  </a:lnTo>
                  <a:close/>
                  <a:moveTo>
                    <a:pt x="711200" y="0"/>
                  </a:moveTo>
                  <a:lnTo>
                    <a:pt x="863600" y="0"/>
                  </a:lnTo>
                  <a:lnTo>
                    <a:pt x="863600" y="50800"/>
                  </a:lnTo>
                  <a:lnTo>
                    <a:pt x="711200" y="50800"/>
                  </a:lnTo>
                  <a:close/>
                  <a:moveTo>
                    <a:pt x="106680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1066800" y="50800"/>
                  </a:lnTo>
                  <a:close/>
                  <a:moveTo>
                    <a:pt x="1422400" y="50800"/>
                  </a:moveTo>
                  <a:lnTo>
                    <a:pt x="1574800" y="50800"/>
                  </a:lnTo>
                  <a:lnTo>
                    <a:pt x="1422400" y="50800"/>
                  </a:lnTo>
                  <a:close/>
                  <a:moveTo>
                    <a:pt x="1778000" y="50800"/>
                  </a:moveTo>
                  <a:lnTo>
                    <a:pt x="1930400" y="50800"/>
                  </a:lnTo>
                  <a:lnTo>
                    <a:pt x="1778000" y="50800"/>
                  </a:lnTo>
                  <a:close/>
                  <a:moveTo>
                    <a:pt x="2133600" y="50800"/>
                  </a:moveTo>
                  <a:lnTo>
                    <a:pt x="2286000" y="50800"/>
                  </a:lnTo>
                  <a:lnTo>
                    <a:pt x="2133600" y="50800"/>
                  </a:lnTo>
                  <a:close/>
                  <a:moveTo>
                    <a:pt x="2489200" y="50800"/>
                  </a:moveTo>
                  <a:lnTo>
                    <a:pt x="2641600" y="50800"/>
                  </a:lnTo>
                  <a:lnTo>
                    <a:pt x="2489200" y="50800"/>
                  </a:lnTo>
                  <a:close/>
                  <a:moveTo>
                    <a:pt x="2844800" y="50800"/>
                  </a:moveTo>
                  <a:lnTo>
                    <a:pt x="2997200" y="50800"/>
                  </a:lnTo>
                  <a:lnTo>
                    <a:pt x="2844800" y="50800"/>
                  </a:lnTo>
                  <a:close/>
                  <a:moveTo>
                    <a:pt x="3200400" y="50800"/>
                  </a:moveTo>
                  <a:lnTo>
                    <a:pt x="3352800" y="50800"/>
                  </a:lnTo>
                  <a:lnTo>
                    <a:pt x="3200400" y="50800"/>
                  </a:lnTo>
                  <a:close/>
                  <a:moveTo>
                    <a:pt x="3556000" y="50800"/>
                  </a:moveTo>
                  <a:lnTo>
                    <a:pt x="3708400" y="50800"/>
                  </a:lnTo>
                  <a:lnTo>
                    <a:pt x="3556000" y="50800"/>
                  </a:lnTo>
                  <a:close/>
                  <a:moveTo>
                    <a:pt x="3911600" y="50800"/>
                  </a:moveTo>
                  <a:lnTo>
                    <a:pt x="4064000" y="50800"/>
                  </a:lnTo>
                  <a:lnTo>
                    <a:pt x="3911600" y="50800"/>
                  </a:lnTo>
                  <a:close/>
                  <a:moveTo>
                    <a:pt x="4267200" y="50800"/>
                  </a:moveTo>
                  <a:lnTo>
                    <a:pt x="4419600" y="50800"/>
                  </a:lnTo>
                  <a:lnTo>
                    <a:pt x="4267200" y="50800"/>
                  </a:lnTo>
                  <a:close/>
                  <a:moveTo>
                    <a:pt x="4622800" y="50800"/>
                  </a:moveTo>
                  <a:lnTo>
                    <a:pt x="4775200" y="50800"/>
                  </a:lnTo>
                  <a:lnTo>
                    <a:pt x="4622800" y="50800"/>
                  </a:lnTo>
                  <a:close/>
                  <a:moveTo>
                    <a:pt x="4978400" y="50800"/>
                  </a:moveTo>
                  <a:lnTo>
                    <a:pt x="5130800" y="50800"/>
                  </a:lnTo>
                  <a:lnTo>
                    <a:pt x="4978400" y="50800"/>
                  </a:lnTo>
                  <a:close/>
                  <a:moveTo>
                    <a:pt x="5334000" y="50800"/>
                  </a:moveTo>
                  <a:lnTo>
                    <a:pt x="5486400" y="50800"/>
                  </a:lnTo>
                  <a:lnTo>
                    <a:pt x="5334000" y="50800"/>
                  </a:lnTo>
                  <a:close/>
                  <a:moveTo>
                    <a:pt x="5689600" y="50800"/>
                  </a:moveTo>
                  <a:lnTo>
                    <a:pt x="5842000" y="50800"/>
                  </a:lnTo>
                  <a:lnTo>
                    <a:pt x="5689600" y="50800"/>
                  </a:lnTo>
                  <a:close/>
                  <a:moveTo>
                    <a:pt x="6045200" y="50800"/>
                  </a:moveTo>
                  <a:lnTo>
                    <a:pt x="6197600" y="50800"/>
                  </a:lnTo>
                  <a:lnTo>
                    <a:pt x="6045200" y="50800"/>
                  </a:lnTo>
                  <a:close/>
                  <a:moveTo>
                    <a:pt x="6400800" y="50800"/>
                  </a:moveTo>
                  <a:lnTo>
                    <a:pt x="6553200" y="50800"/>
                  </a:lnTo>
                  <a:lnTo>
                    <a:pt x="6400800" y="50800"/>
                  </a:lnTo>
                  <a:close/>
                  <a:moveTo>
                    <a:pt x="6756400" y="50800"/>
                  </a:moveTo>
                  <a:lnTo>
                    <a:pt x="6908800" y="50800"/>
                  </a:lnTo>
                  <a:lnTo>
                    <a:pt x="6756400" y="50800"/>
                  </a:lnTo>
                  <a:close/>
                  <a:moveTo>
                    <a:pt x="7112000" y="50800"/>
                  </a:moveTo>
                  <a:lnTo>
                    <a:pt x="7264400" y="50800"/>
                  </a:lnTo>
                  <a:lnTo>
                    <a:pt x="7112000" y="50800"/>
                  </a:lnTo>
                  <a:close/>
                  <a:moveTo>
                    <a:pt x="7467600" y="50800"/>
                  </a:moveTo>
                  <a:lnTo>
                    <a:pt x="7620000" y="50800"/>
                  </a:lnTo>
                  <a:lnTo>
                    <a:pt x="7467600" y="50800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004310" y="3638550"/>
            <a:ext cx="3512820" cy="38100"/>
            <a:chOff x="0" y="0"/>
            <a:chExt cx="4683760" cy="50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5400" y="0"/>
              <a:ext cx="4632960" cy="50800"/>
            </a:xfrm>
            <a:custGeom>
              <a:avLst/>
              <a:gdLst/>
              <a:ahLst/>
              <a:cxnLst/>
              <a:rect r="r" b="b" t="t" l="l"/>
              <a:pathLst>
                <a:path h="50800" w="4632960">
                  <a:moveTo>
                    <a:pt x="3556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355600" y="50800"/>
                  </a:lnTo>
                  <a:close/>
                  <a:moveTo>
                    <a:pt x="711200" y="0"/>
                  </a:moveTo>
                  <a:lnTo>
                    <a:pt x="863600" y="0"/>
                  </a:lnTo>
                  <a:lnTo>
                    <a:pt x="863600" y="50800"/>
                  </a:lnTo>
                  <a:lnTo>
                    <a:pt x="711200" y="50800"/>
                  </a:lnTo>
                  <a:close/>
                  <a:moveTo>
                    <a:pt x="106680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1066800" y="50800"/>
                  </a:lnTo>
                  <a:close/>
                  <a:moveTo>
                    <a:pt x="1422400" y="50800"/>
                  </a:moveTo>
                  <a:lnTo>
                    <a:pt x="1574800" y="50800"/>
                  </a:lnTo>
                  <a:lnTo>
                    <a:pt x="1422400" y="50800"/>
                  </a:lnTo>
                  <a:close/>
                  <a:moveTo>
                    <a:pt x="1778000" y="50800"/>
                  </a:moveTo>
                  <a:lnTo>
                    <a:pt x="1930400" y="50800"/>
                  </a:lnTo>
                  <a:lnTo>
                    <a:pt x="1778000" y="50800"/>
                  </a:lnTo>
                  <a:close/>
                  <a:moveTo>
                    <a:pt x="2133600" y="50800"/>
                  </a:moveTo>
                  <a:lnTo>
                    <a:pt x="2286000" y="50800"/>
                  </a:lnTo>
                  <a:lnTo>
                    <a:pt x="2133600" y="50800"/>
                  </a:lnTo>
                  <a:close/>
                  <a:moveTo>
                    <a:pt x="2489200" y="50800"/>
                  </a:moveTo>
                  <a:lnTo>
                    <a:pt x="2641600" y="50800"/>
                  </a:lnTo>
                  <a:lnTo>
                    <a:pt x="2489200" y="50800"/>
                  </a:lnTo>
                  <a:close/>
                  <a:moveTo>
                    <a:pt x="2844800" y="50800"/>
                  </a:moveTo>
                  <a:lnTo>
                    <a:pt x="2997200" y="50800"/>
                  </a:lnTo>
                  <a:lnTo>
                    <a:pt x="2844800" y="50800"/>
                  </a:lnTo>
                  <a:close/>
                  <a:moveTo>
                    <a:pt x="3200400" y="50800"/>
                  </a:moveTo>
                  <a:lnTo>
                    <a:pt x="3352800" y="50800"/>
                  </a:lnTo>
                  <a:lnTo>
                    <a:pt x="3200400" y="50800"/>
                  </a:lnTo>
                  <a:close/>
                  <a:moveTo>
                    <a:pt x="3556000" y="50800"/>
                  </a:moveTo>
                  <a:lnTo>
                    <a:pt x="3708400" y="50800"/>
                  </a:lnTo>
                  <a:lnTo>
                    <a:pt x="3556000" y="50800"/>
                  </a:lnTo>
                  <a:close/>
                  <a:moveTo>
                    <a:pt x="3911600" y="50800"/>
                  </a:moveTo>
                  <a:lnTo>
                    <a:pt x="4064000" y="50800"/>
                  </a:lnTo>
                  <a:lnTo>
                    <a:pt x="3911600" y="50800"/>
                  </a:lnTo>
                  <a:close/>
                  <a:moveTo>
                    <a:pt x="4267200" y="50800"/>
                  </a:moveTo>
                  <a:lnTo>
                    <a:pt x="4419600" y="50800"/>
                  </a:lnTo>
                  <a:lnTo>
                    <a:pt x="4267200" y="50800"/>
                  </a:lnTo>
                  <a:close/>
                  <a:moveTo>
                    <a:pt x="4622800" y="50800"/>
                  </a:moveTo>
                  <a:lnTo>
                    <a:pt x="4632960" y="50800"/>
                  </a:lnTo>
                  <a:lnTo>
                    <a:pt x="4622800" y="50800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193030" y="4278630"/>
            <a:ext cx="1135380" cy="38100"/>
            <a:chOff x="0" y="0"/>
            <a:chExt cx="1513840" cy="50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25400" y="0"/>
              <a:ext cx="1463040" cy="50800"/>
            </a:xfrm>
            <a:custGeom>
              <a:avLst/>
              <a:gdLst/>
              <a:ahLst/>
              <a:cxnLst/>
              <a:rect r="r" b="b" t="t" l="l"/>
              <a:pathLst>
                <a:path h="50800" w="1463040">
                  <a:moveTo>
                    <a:pt x="3556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355600" y="50800"/>
                  </a:lnTo>
                  <a:close/>
                  <a:moveTo>
                    <a:pt x="711200" y="0"/>
                  </a:moveTo>
                  <a:lnTo>
                    <a:pt x="863600" y="0"/>
                  </a:lnTo>
                  <a:lnTo>
                    <a:pt x="863600" y="50800"/>
                  </a:lnTo>
                  <a:lnTo>
                    <a:pt x="711200" y="50800"/>
                  </a:lnTo>
                  <a:close/>
                  <a:moveTo>
                    <a:pt x="106680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1066800" y="50800"/>
                  </a:lnTo>
                  <a:close/>
                  <a:moveTo>
                    <a:pt x="1422400" y="50800"/>
                  </a:moveTo>
                  <a:lnTo>
                    <a:pt x="1463040" y="50800"/>
                  </a:lnTo>
                  <a:lnTo>
                    <a:pt x="1422400" y="50800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2743200" y="1828800"/>
            <a:ext cx="5486400" cy="512064"/>
            <a:chOff x="0" y="0"/>
            <a:chExt cx="7315200" cy="6827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i="true">
                  <a:solidFill>
                    <a:srgbClr val="F4A261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Skip Connections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23143" y="1998983"/>
            <a:ext cx="1031243" cy="4597403"/>
            <a:chOff x="0" y="0"/>
            <a:chExt cx="1374991" cy="61298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1341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74902" cy="6129782"/>
            </a:xfrm>
            <a:custGeom>
              <a:avLst/>
              <a:gdLst/>
              <a:ahLst/>
              <a:cxnLst/>
              <a:rect r="r" b="b" t="t" l="l"/>
              <a:pathLst>
                <a:path h="61297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6112891"/>
                  </a:lnTo>
                  <a:cubicBezTo>
                    <a:pt x="1374902" y="6122289"/>
                    <a:pt x="1367282" y="6129782"/>
                    <a:pt x="135801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1358011" y="6096000"/>
                  </a:lnTo>
                  <a:lnTo>
                    <a:pt x="1358011" y="6112891"/>
                  </a:lnTo>
                  <a:lnTo>
                    <a:pt x="1341120" y="61128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435840" y="3931920"/>
            <a:ext cx="1005840" cy="731520"/>
            <a:chOff x="0" y="0"/>
            <a:chExt cx="1341120" cy="975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41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34112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Mask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48640" y="6675120"/>
            <a:ext cx="4572000" cy="512064"/>
            <a:chOff x="0" y="0"/>
            <a:chExt cx="609600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ENCODER (Contracting)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863840" y="6675120"/>
            <a:ext cx="4572000" cy="512064"/>
            <a:chOff x="0" y="0"/>
            <a:chExt cx="609600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DECODER (Expansive)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886183" y="1998983"/>
            <a:ext cx="3957323" cy="2219963"/>
            <a:chOff x="0" y="0"/>
            <a:chExt cx="5276431" cy="29599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5242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2763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2942971"/>
                  </a:lnTo>
                  <a:cubicBezTo>
                    <a:pt x="5276342" y="2952369"/>
                    <a:pt x="5268722" y="2959862"/>
                    <a:pt x="52594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259451" y="2926080"/>
                  </a:lnTo>
                  <a:lnTo>
                    <a:pt x="5259451" y="2942971"/>
                  </a:lnTo>
                  <a:lnTo>
                    <a:pt x="5242560" y="29429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898880" y="2011680"/>
            <a:ext cx="3931920" cy="585216"/>
            <a:chOff x="0" y="0"/>
            <a:chExt cx="5242560" cy="78028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42560" cy="780288"/>
            </a:xfrm>
            <a:custGeom>
              <a:avLst/>
              <a:gdLst/>
              <a:ahLst/>
              <a:cxnLst/>
              <a:rect r="r" b="b" t="t" l="l"/>
              <a:pathLst>
                <a:path h="780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915" r="0" b="-8091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52425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🔻 Encoder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990320" y="2560320"/>
            <a:ext cx="3749040" cy="1554480"/>
            <a:chOff x="0" y="0"/>
            <a:chExt cx="4998720" cy="2072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98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9" t="0" r="-3199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9987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pooling downsamples the image, extracting high-level semantic features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886183" y="4467863"/>
            <a:ext cx="3957323" cy="2219963"/>
            <a:chOff x="0" y="0"/>
            <a:chExt cx="5276431" cy="295995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5242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2763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2942971"/>
                  </a:lnTo>
                  <a:cubicBezTo>
                    <a:pt x="5276342" y="2952369"/>
                    <a:pt x="5268722" y="2959862"/>
                    <a:pt x="52594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259451" y="2926080"/>
                  </a:lnTo>
                  <a:lnTo>
                    <a:pt x="5259451" y="2942971"/>
                  </a:lnTo>
                  <a:lnTo>
                    <a:pt x="5242560" y="29429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E0E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898880" y="4480560"/>
            <a:ext cx="3931920" cy="585216"/>
            <a:chOff x="0" y="0"/>
            <a:chExt cx="5242560" cy="78028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242560" cy="780288"/>
            </a:xfrm>
            <a:custGeom>
              <a:avLst/>
              <a:gdLst/>
              <a:ahLst/>
              <a:cxnLst/>
              <a:rect r="r" b="b" t="t" l="l"/>
              <a:pathLst>
                <a:path h="780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915" r="0" b="-8091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52425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🔺 Decoder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990320" y="5029200"/>
            <a:ext cx="3749040" cy="1554480"/>
            <a:chOff x="0" y="0"/>
            <a:chExt cx="4998720" cy="2072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998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9" t="0" r="-3199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9987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Up-convolutions restore spatial resolution back to original image size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886183" y="6936743"/>
            <a:ext cx="3957323" cy="2219963"/>
            <a:chOff x="0" y="0"/>
            <a:chExt cx="5276431" cy="295995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52425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2763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2942971"/>
                  </a:lnTo>
                  <a:cubicBezTo>
                    <a:pt x="5276342" y="2952369"/>
                    <a:pt x="5268722" y="2959862"/>
                    <a:pt x="52594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259451" y="2926080"/>
                  </a:lnTo>
                  <a:lnTo>
                    <a:pt x="5259451" y="2942971"/>
                  </a:lnTo>
                  <a:lnTo>
                    <a:pt x="5242560" y="29429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898880" y="6949440"/>
            <a:ext cx="3931920" cy="585216"/>
            <a:chOff x="0" y="0"/>
            <a:chExt cx="5242560" cy="7802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242560" cy="780288"/>
            </a:xfrm>
            <a:custGeom>
              <a:avLst/>
              <a:gdLst/>
              <a:ahLst/>
              <a:cxnLst/>
              <a:rect r="r" b="b" t="t" l="l"/>
              <a:pathLst>
                <a:path h="78028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915" r="0" b="-8091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52425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↔ Skip Connections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990320" y="7498080"/>
            <a:ext cx="3749040" cy="1554480"/>
            <a:chOff x="0" y="0"/>
            <a:chExt cx="4998720" cy="20726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998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9" t="0" r="-3199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49987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 fine-grained spatial info from encoder directly to decoder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Implementation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 pipeline, loss function &amp; evaluation metrics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237" y="2077717"/>
            <a:ext cx="5628637" cy="7548877"/>
            <a:chOff x="0" y="0"/>
            <a:chExt cx="7504849" cy="100651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3909" y="33909"/>
              <a:ext cx="7437119" cy="9997440"/>
            </a:xfrm>
            <a:custGeom>
              <a:avLst/>
              <a:gdLst/>
              <a:ahLst/>
              <a:cxnLst/>
              <a:rect r="r" b="b" t="t" l="l"/>
              <a:pathLst>
                <a:path h="999744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04938" cy="10065258"/>
            </a:xfrm>
            <a:custGeom>
              <a:avLst/>
              <a:gdLst/>
              <a:ahLst/>
              <a:cxnLst/>
              <a:rect r="r" b="b" t="t" l="l"/>
              <a:pathLst>
                <a:path h="10065258" w="7504938">
                  <a:moveTo>
                    <a:pt x="33909" y="0"/>
                  </a:moveTo>
                  <a:lnTo>
                    <a:pt x="7471028" y="0"/>
                  </a:lnTo>
                  <a:cubicBezTo>
                    <a:pt x="7489698" y="0"/>
                    <a:pt x="7504938" y="15113"/>
                    <a:pt x="7504938" y="33909"/>
                  </a:cubicBezTo>
                  <a:lnTo>
                    <a:pt x="7504938" y="10031349"/>
                  </a:lnTo>
                  <a:cubicBezTo>
                    <a:pt x="7504938" y="10050018"/>
                    <a:pt x="7489825" y="10065258"/>
                    <a:pt x="7471028" y="10065258"/>
                  </a:cubicBezTo>
                  <a:lnTo>
                    <a:pt x="33909" y="10065258"/>
                  </a:lnTo>
                  <a:cubicBezTo>
                    <a:pt x="15240" y="10065258"/>
                    <a:pt x="0" y="10050145"/>
                    <a:pt x="0" y="100313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0031349"/>
                  </a:lnTo>
                  <a:lnTo>
                    <a:pt x="33909" y="10031349"/>
                  </a:lnTo>
                  <a:lnTo>
                    <a:pt x="33909" y="9997440"/>
                  </a:lnTo>
                  <a:lnTo>
                    <a:pt x="7471028" y="9997440"/>
                  </a:lnTo>
                  <a:lnTo>
                    <a:pt x="7471028" y="10031349"/>
                  </a:lnTo>
                  <a:lnTo>
                    <a:pt x="7437120" y="10031349"/>
                  </a:lnTo>
                  <a:lnTo>
                    <a:pt x="7437120" y="33909"/>
                  </a:lnTo>
                  <a:lnTo>
                    <a:pt x="7471028" y="33909"/>
                  </a:lnTo>
                  <a:lnTo>
                    <a:pt x="74710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103120"/>
            <a:ext cx="5577840" cy="877824"/>
            <a:chOff x="0" y="0"/>
            <a:chExt cx="7437120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2103120"/>
            <a:ext cx="5577840" cy="877824"/>
            <a:chOff x="0" y="0"/>
            <a:chExt cx="7437120" cy="1170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811" r="0" b="-738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371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Data Engineering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3200400"/>
            <a:ext cx="329184" cy="329184"/>
            <a:chOff x="0" y="0"/>
            <a:chExt cx="438912" cy="4389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3145536"/>
            <a:ext cx="4572000" cy="512064"/>
            <a:chOff x="0" y="0"/>
            <a:chExt cx="60960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Resolution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3657600"/>
            <a:ext cx="4572000" cy="1280160"/>
            <a:chOff x="0" y="0"/>
            <a:chExt cx="609600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256 × 256 pixels — balances detail &amp; compute cost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5212080"/>
            <a:ext cx="329184" cy="329184"/>
            <a:chOff x="0" y="0"/>
            <a:chExt cx="438912" cy="438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5157216"/>
            <a:ext cx="4572000" cy="512064"/>
            <a:chOff x="0" y="0"/>
            <a:chExt cx="609600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Augmentation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1600" y="5669280"/>
            <a:ext cx="4572000" cy="1280160"/>
            <a:chOff x="0" y="0"/>
            <a:chExt cx="609600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ImageDataGenerator: rotations, shifts, zooms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7223760"/>
            <a:ext cx="329184" cy="329184"/>
            <a:chOff x="0" y="0"/>
            <a:chExt cx="438912" cy="43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7168896"/>
            <a:ext cx="4572000" cy="512064"/>
            <a:chOff x="0" y="0"/>
            <a:chExt cx="609600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7680960"/>
            <a:ext cx="4572000" cy="1280160"/>
            <a:chOff x="0" y="0"/>
            <a:chExt cx="6096000" cy="1706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Simulate varied MRI scanner angles to prevent overfitting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30261" y="2077717"/>
            <a:ext cx="5628637" cy="7548877"/>
            <a:chOff x="0" y="0"/>
            <a:chExt cx="7504849" cy="100651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33909" y="33909"/>
              <a:ext cx="7437119" cy="9997440"/>
            </a:xfrm>
            <a:custGeom>
              <a:avLst/>
              <a:gdLst/>
              <a:ahLst/>
              <a:cxnLst/>
              <a:rect r="r" b="b" t="t" l="l"/>
              <a:pathLst>
                <a:path h="999744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504938" cy="10065258"/>
            </a:xfrm>
            <a:custGeom>
              <a:avLst/>
              <a:gdLst/>
              <a:ahLst/>
              <a:cxnLst/>
              <a:rect r="r" b="b" t="t" l="l"/>
              <a:pathLst>
                <a:path h="10065258" w="7504938">
                  <a:moveTo>
                    <a:pt x="33909" y="0"/>
                  </a:moveTo>
                  <a:lnTo>
                    <a:pt x="7471028" y="0"/>
                  </a:lnTo>
                  <a:cubicBezTo>
                    <a:pt x="7489698" y="0"/>
                    <a:pt x="7504938" y="15113"/>
                    <a:pt x="7504938" y="33909"/>
                  </a:cubicBezTo>
                  <a:lnTo>
                    <a:pt x="7504938" y="10031349"/>
                  </a:lnTo>
                  <a:cubicBezTo>
                    <a:pt x="7504938" y="10050018"/>
                    <a:pt x="7489825" y="10065258"/>
                    <a:pt x="7471028" y="10065258"/>
                  </a:cubicBezTo>
                  <a:lnTo>
                    <a:pt x="33909" y="10065258"/>
                  </a:lnTo>
                  <a:cubicBezTo>
                    <a:pt x="15240" y="10065258"/>
                    <a:pt x="0" y="10050145"/>
                    <a:pt x="0" y="100313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0031349"/>
                  </a:lnTo>
                  <a:lnTo>
                    <a:pt x="33909" y="10031349"/>
                  </a:lnTo>
                  <a:lnTo>
                    <a:pt x="33909" y="9997440"/>
                  </a:lnTo>
                  <a:lnTo>
                    <a:pt x="7471028" y="9997440"/>
                  </a:lnTo>
                  <a:lnTo>
                    <a:pt x="7471028" y="10031349"/>
                  </a:lnTo>
                  <a:lnTo>
                    <a:pt x="7437120" y="10031349"/>
                  </a:lnTo>
                  <a:lnTo>
                    <a:pt x="7437120" y="33909"/>
                  </a:lnTo>
                  <a:lnTo>
                    <a:pt x="7471028" y="33909"/>
                  </a:lnTo>
                  <a:lnTo>
                    <a:pt x="74710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55664" y="2103120"/>
            <a:ext cx="5577840" cy="877824"/>
            <a:chOff x="0" y="0"/>
            <a:chExt cx="7437120" cy="1170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55664" y="2103120"/>
            <a:ext cx="5577840" cy="877824"/>
            <a:chOff x="0" y="0"/>
            <a:chExt cx="7437120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811" r="0" b="-738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4371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⚖️ Hybrid Loss Function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21424" y="3200400"/>
            <a:ext cx="329184" cy="329184"/>
            <a:chOff x="0" y="0"/>
            <a:chExt cx="438912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278624" y="3145536"/>
            <a:ext cx="4572000" cy="512064"/>
            <a:chOff x="0" y="0"/>
            <a:chExt cx="609600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BCE Loss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278624" y="3657600"/>
            <a:ext cx="4572000" cy="1280160"/>
            <a:chOff x="0" y="0"/>
            <a:chExt cx="6096000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 Cross-Entropy — pixel-level classification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21424" y="5212080"/>
            <a:ext cx="329184" cy="329184"/>
            <a:chOff x="0" y="0"/>
            <a:chExt cx="438912" cy="4389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278624" y="5157216"/>
            <a:ext cx="4572000" cy="512064"/>
            <a:chOff x="0" y="0"/>
            <a:chExt cx="609600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Loss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278624" y="5669280"/>
            <a:ext cx="4572000" cy="1280160"/>
            <a:chOff x="0" y="0"/>
            <a:chExt cx="6096000" cy="1706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overlap between predicted mask &amp; ground truth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821424" y="7223760"/>
            <a:ext cx="329184" cy="329184"/>
            <a:chOff x="0" y="0"/>
            <a:chExt cx="438912" cy="4389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278624" y="7168896"/>
            <a:ext cx="4572000" cy="512064"/>
            <a:chOff x="0" y="0"/>
            <a:chExt cx="609600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278624" y="7680960"/>
            <a:ext cx="4572000" cy="1280160"/>
            <a:chOff x="0" y="0"/>
            <a:chExt cx="6096000" cy="17068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Combining both overcomes severe class imbalance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37285" y="2077717"/>
            <a:ext cx="5628637" cy="7548877"/>
            <a:chOff x="0" y="0"/>
            <a:chExt cx="7504849" cy="100651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33909" y="33909"/>
              <a:ext cx="7437119" cy="9997440"/>
            </a:xfrm>
            <a:custGeom>
              <a:avLst/>
              <a:gdLst/>
              <a:ahLst/>
              <a:cxnLst/>
              <a:rect r="r" b="b" t="t" l="l"/>
              <a:pathLst>
                <a:path h="999744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04938" cy="10065258"/>
            </a:xfrm>
            <a:custGeom>
              <a:avLst/>
              <a:gdLst/>
              <a:ahLst/>
              <a:cxnLst/>
              <a:rect r="r" b="b" t="t" l="l"/>
              <a:pathLst>
                <a:path h="10065258" w="7504938">
                  <a:moveTo>
                    <a:pt x="33909" y="0"/>
                  </a:moveTo>
                  <a:lnTo>
                    <a:pt x="7471028" y="0"/>
                  </a:lnTo>
                  <a:cubicBezTo>
                    <a:pt x="7489698" y="0"/>
                    <a:pt x="7504938" y="15113"/>
                    <a:pt x="7504938" y="33909"/>
                  </a:cubicBezTo>
                  <a:lnTo>
                    <a:pt x="7504938" y="10031349"/>
                  </a:lnTo>
                  <a:cubicBezTo>
                    <a:pt x="7504938" y="10050018"/>
                    <a:pt x="7489825" y="10065258"/>
                    <a:pt x="7471028" y="10065258"/>
                  </a:cubicBezTo>
                  <a:lnTo>
                    <a:pt x="33909" y="10065258"/>
                  </a:lnTo>
                  <a:cubicBezTo>
                    <a:pt x="15240" y="10065258"/>
                    <a:pt x="0" y="10050145"/>
                    <a:pt x="0" y="100313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0031349"/>
                  </a:lnTo>
                  <a:lnTo>
                    <a:pt x="33909" y="10031349"/>
                  </a:lnTo>
                  <a:lnTo>
                    <a:pt x="33909" y="9997440"/>
                  </a:lnTo>
                  <a:lnTo>
                    <a:pt x="7471028" y="9997440"/>
                  </a:lnTo>
                  <a:lnTo>
                    <a:pt x="7471028" y="10031349"/>
                  </a:lnTo>
                  <a:lnTo>
                    <a:pt x="7437120" y="10031349"/>
                  </a:lnTo>
                  <a:lnTo>
                    <a:pt x="7437120" y="33909"/>
                  </a:lnTo>
                  <a:lnTo>
                    <a:pt x="7471028" y="33909"/>
                  </a:lnTo>
                  <a:lnTo>
                    <a:pt x="74710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362688" y="2103120"/>
            <a:ext cx="5577840" cy="877824"/>
            <a:chOff x="0" y="0"/>
            <a:chExt cx="7437120" cy="11704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362688" y="2103120"/>
            <a:ext cx="5577840" cy="877824"/>
            <a:chOff x="0" y="0"/>
            <a:chExt cx="7437120" cy="11704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811" r="0" b="-7381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74371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📏 Evaluation Metrics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728448" y="3200400"/>
            <a:ext cx="329184" cy="329184"/>
            <a:chOff x="0" y="0"/>
            <a:chExt cx="438912" cy="4389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185648" y="3145536"/>
            <a:ext cx="4572000" cy="512064"/>
            <a:chOff x="0" y="0"/>
            <a:chExt cx="609600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Coefficient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185648" y="3657600"/>
            <a:ext cx="4572000" cy="1280160"/>
            <a:chOff x="0" y="0"/>
            <a:chExt cx="6096000" cy="17068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Primary metric — degree of overlap (0–1 scale)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728448" y="5212080"/>
            <a:ext cx="329184" cy="329184"/>
            <a:chOff x="0" y="0"/>
            <a:chExt cx="438912" cy="4389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185648" y="5157216"/>
            <a:ext cx="4572000" cy="512064"/>
            <a:chOff x="0" y="0"/>
            <a:chExt cx="609600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IoU / Jaccard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185648" y="5669280"/>
            <a:ext cx="4572000" cy="1280160"/>
            <a:chOff x="0" y="0"/>
            <a:chExt cx="6096000" cy="17068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Stricter metric — area overlap ÷ area of union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728448" y="7223760"/>
            <a:ext cx="329184" cy="329184"/>
            <a:chOff x="0" y="0"/>
            <a:chExt cx="438912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185648" y="7168896"/>
            <a:ext cx="4572000" cy="512064"/>
            <a:chOff x="0" y="0"/>
            <a:chExt cx="609600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Pixel Accuracy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185648" y="7680960"/>
            <a:ext cx="4572000" cy="1280160"/>
            <a:chOff x="0" y="0"/>
            <a:chExt cx="6096000" cy="17068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096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0960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 of correctly classified pixels overall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90E0E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Optimization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Keras Callbacks for automated, intelligent training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1998983"/>
            <a:ext cx="8620763" cy="3683003"/>
            <a:chOff x="0" y="0"/>
            <a:chExt cx="11494351" cy="4910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11460481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D111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942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4893691"/>
                  </a:lnTo>
                  <a:cubicBezTo>
                    <a:pt x="11494262" y="4903089"/>
                    <a:pt x="11486642" y="4910582"/>
                    <a:pt x="11477372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1477372" y="4876800"/>
                  </a:lnTo>
                  <a:lnTo>
                    <a:pt x="11477372" y="4893691"/>
                  </a:lnTo>
                  <a:lnTo>
                    <a:pt x="11460480" y="489369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2048256"/>
            <a:ext cx="8412480" cy="512064"/>
            <a:chOff x="0" y="0"/>
            <a:chExt cx="1121664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216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2B788"/>
                  </a:solidFill>
                  <a:latin typeface="Consolas"/>
                  <a:ea typeface="Consolas"/>
                  <a:cs typeface="Consolas"/>
                  <a:sym typeface="Consolas"/>
                </a:rPr>
                <a:t># Python / Keras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2596896"/>
            <a:ext cx="8412480" cy="2962656"/>
            <a:chOff x="0" y="0"/>
            <a:chExt cx="11216640" cy="39502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16640" cy="3950208"/>
            </a:xfrm>
            <a:custGeom>
              <a:avLst/>
              <a:gdLst/>
              <a:ahLst/>
              <a:cxnLst/>
              <a:rect r="r" b="b" t="t" l="l"/>
              <a:pathLst>
                <a:path h="395020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950208"/>
                  </a:lnTo>
                  <a:lnTo>
                    <a:pt x="0" y="39502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7" r="0" b="-53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216640" cy="3988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B4D8"/>
                  </a:solidFill>
                  <a:latin typeface="Consolas"/>
                  <a:ea typeface="Consolas"/>
                  <a:cs typeface="Consolas"/>
                  <a:sym typeface="Consolas"/>
                </a:rPr>
                <a:t>EarlyStop = EarlyStopping(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F4FD"/>
                  </a:solidFill>
                  <a:latin typeface="Consolas"/>
                  <a:ea typeface="Consolas"/>
                  <a:cs typeface="Consolas"/>
                  <a:sym typeface="Consolas"/>
                </a:rPr>
                <a:t>    patience=10, restore_best_weights=True)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B4D8"/>
                  </a:solidFill>
                  <a:latin typeface="Consolas"/>
                  <a:ea typeface="Consolas"/>
                  <a:cs typeface="Consolas"/>
                  <a:sym typeface="Consolas"/>
                </a:rPr>
                <a:t>Reduce_LR = ReduceLROnPlateau(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F4FD"/>
                  </a:solidFill>
                  <a:latin typeface="Consolas"/>
                  <a:ea typeface="Consolas"/>
                  <a:cs typeface="Consolas"/>
                  <a:sym typeface="Consolas"/>
                </a:rPr>
                <a:t>    monitor='val_accuracy',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F4FD"/>
                  </a:solidFill>
                  <a:latin typeface="Consolas"/>
                  <a:ea typeface="Consolas"/>
                  <a:cs typeface="Consolas"/>
                  <a:sym typeface="Consolas"/>
                </a:rPr>
                <a:t>    factor=0.5, min_lr=0.00001)</a:t>
              </a:r>
            </a:p>
            <a:p>
              <a:pPr algn="l">
                <a:lnSpc>
                  <a:spcPts val="2039"/>
                </a:lnSpc>
              </a:pP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B4D8"/>
                  </a:solidFill>
                  <a:latin typeface="Consolas"/>
                  <a:ea typeface="Consolas"/>
                  <a:cs typeface="Consolas"/>
                  <a:sym typeface="Consolas"/>
                </a:rPr>
                <a:t>model_check = ModelCheckpoint(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F4FD"/>
                  </a:solidFill>
                  <a:latin typeface="Consolas"/>
                  <a:ea typeface="Consolas"/>
                  <a:cs typeface="Consolas"/>
                  <a:sym typeface="Consolas"/>
                </a:rPr>
                <a:t>    'model.keras', monitor='val_loss',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8F4FD"/>
                  </a:solidFill>
                  <a:latin typeface="Consolas"/>
                  <a:ea typeface="Consolas"/>
                  <a:cs typeface="Consolas"/>
                  <a:sym typeface="Consolas"/>
                </a:rPr>
                <a:t>    save_best_only=True)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90710" y="1992630"/>
            <a:ext cx="8267700" cy="2506980"/>
            <a:chOff x="0" y="0"/>
            <a:chExt cx="11023600" cy="3342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23600" cy="3342640"/>
            </a:xfrm>
            <a:custGeom>
              <a:avLst/>
              <a:gdLst/>
              <a:ahLst/>
              <a:cxnLst/>
              <a:rect r="r" b="b" t="t" l="l"/>
              <a:pathLst>
                <a:path h="33426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317240"/>
                  </a:lnTo>
                  <a:cubicBezTo>
                    <a:pt x="11023600" y="3331210"/>
                    <a:pt x="11012170" y="3342640"/>
                    <a:pt x="1099820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10998200" y="3291840"/>
                  </a:lnTo>
                  <a:lnTo>
                    <a:pt x="10998200" y="3317240"/>
                  </a:lnTo>
                  <a:lnTo>
                    <a:pt x="10972800" y="33172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84080" y="2157984"/>
            <a:ext cx="7680960" cy="585216"/>
            <a:chOff x="0" y="0"/>
            <a:chExt cx="1024128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2412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⛔  Early Stopping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84080" y="2706624"/>
            <a:ext cx="7680960" cy="457200"/>
            <a:chOff x="0" y="0"/>
            <a:chExt cx="1024128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2412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BD"/>
                  </a:solidFill>
                  <a:latin typeface="Consolas"/>
                  <a:ea typeface="Consolas"/>
                  <a:cs typeface="Consolas"/>
                  <a:sym typeface="Consolas"/>
                </a:rPr>
                <a:t>patience=10, restore_best_weights=True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84080" y="3200400"/>
            <a:ext cx="7680960" cy="1097280"/>
            <a:chOff x="0" y="0"/>
            <a:chExt cx="1024128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Halts training if no improvement for 10 epochs. Restores the best checkpoint — prevents overfitting.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90710" y="4644390"/>
            <a:ext cx="8267700" cy="2506980"/>
            <a:chOff x="0" y="0"/>
            <a:chExt cx="11023600" cy="3342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23600" cy="3342640"/>
            </a:xfrm>
            <a:custGeom>
              <a:avLst/>
              <a:gdLst/>
              <a:ahLst/>
              <a:cxnLst/>
              <a:rect r="r" b="b" t="t" l="l"/>
              <a:pathLst>
                <a:path h="33426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317240"/>
                  </a:lnTo>
                  <a:cubicBezTo>
                    <a:pt x="11023600" y="3331210"/>
                    <a:pt x="11012170" y="3342640"/>
                    <a:pt x="1099820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10998200" y="3291840"/>
                  </a:lnTo>
                  <a:lnTo>
                    <a:pt x="10998200" y="3317240"/>
                  </a:lnTo>
                  <a:lnTo>
                    <a:pt x="10972800" y="33172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84080" y="4809744"/>
            <a:ext cx="7680960" cy="585216"/>
            <a:chOff x="0" y="0"/>
            <a:chExt cx="1024128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2412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📉  ReduceLROnPlateau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84080" y="5358384"/>
            <a:ext cx="7680960" cy="457200"/>
            <a:chOff x="0" y="0"/>
            <a:chExt cx="1024128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2412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BD"/>
                  </a:solidFill>
                  <a:latin typeface="Consolas"/>
                  <a:ea typeface="Consolas"/>
                  <a:cs typeface="Consolas"/>
                  <a:sym typeface="Consolas"/>
                </a:rPr>
                <a:t>factor=0.5, min_lr=0.00001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84080" y="5852160"/>
            <a:ext cx="7680960" cy="1097280"/>
            <a:chOff x="0" y="0"/>
            <a:chExt cx="1024128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Cuts learning rate by half when accuracy plateaus, helping the model escape local minima.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90710" y="7296150"/>
            <a:ext cx="8267700" cy="2506980"/>
            <a:chOff x="0" y="0"/>
            <a:chExt cx="11023600" cy="3342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2540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23600" cy="3342640"/>
            </a:xfrm>
            <a:custGeom>
              <a:avLst/>
              <a:gdLst/>
              <a:ahLst/>
              <a:cxnLst/>
              <a:rect r="r" b="b" t="t" l="l"/>
              <a:pathLst>
                <a:path h="33426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3317240"/>
                  </a:lnTo>
                  <a:cubicBezTo>
                    <a:pt x="11023600" y="3331210"/>
                    <a:pt x="11012170" y="3342640"/>
                    <a:pt x="10998200" y="3342640"/>
                  </a:cubicBezTo>
                  <a:lnTo>
                    <a:pt x="25400" y="3342640"/>
                  </a:lnTo>
                  <a:cubicBezTo>
                    <a:pt x="11430" y="3342640"/>
                    <a:pt x="0" y="3331210"/>
                    <a:pt x="0" y="33172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317240"/>
                  </a:lnTo>
                  <a:lnTo>
                    <a:pt x="25400" y="3317240"/>
                  </a:lnTo>
                  <a:lnTo>
                    <a:pt x="25400" y="3291840"/>
                  </a:lnTo>
                  <a:lnTo>
                    <a:pt x="10998200" y="3291840"/>
                  </a:lnTo>
                  <a:lnTo>
                    <a:pt x="10998200" y="3317240"/>
                  </a:lnTo>
                  <a:lnTo>
                    <a:pt x="10972800" y="33172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84080" y="7461504"/>
            <a:ext cx="7680960" cy="585216"/>
            <a:chOff x="0" y="0"/>
            <a:chExt cx="10241280" cy="780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2412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💾  Model Checkpoint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84080" y="8010144"/>
            <a:ext cx="7680960" cy="457200"/>
            <a:chOff x="0" y="0"/>
            <a:chExt cx="1024128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2412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8B2BD"/>
                  </a:solidFill>
                  <a:latin typeface="Consolas"/>
                  <a:ea typeface="Consolas"/>
                  <a:cs typeface="Consolas"/>
                  <a:sym typeface="Consolas"/>
                </a:rPr>
                <a:t>monitor='val_loss', save_best_only=True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84080" y="8503920"/>
            <a:ext cx="7680960" cy="1097280"/>
            <a:chOff x="0" y="0"/>
            <a:chExt cx="1024128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Saves only the best model version. Crash-safe — the optimal weights are always persisted to disk.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5943" y="5748023"/>
            <a:ext cx="8620763" cy="3591563"/>
            <a:chOff x="0" y="0"/>
            <a:chExt cx="11494351" cy="47887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1460481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494262" cy="4788662"/>
            </a:xfrm>
            <a:custGeom>
              <a:avLst/>
              <a:gdLst/>
              <a:ahLst/>
              <a:cxnLst/>
              <a:rect r="r" b="b" t="t" l="l"/>
              <a:pathLst>
                <a:path h="478866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4771771"/>
                  </a:lnTo>
                  <a:cubicBezTo>
                    <a:pt x="11494262" y="4781169"/>
                    <a:pt x="11486642" y="4788662"/>
                    <a:pt x="11477372" y="4788662"/>
                  </a:cubicBezTo>
                  <a:lnTo>
                    <a:pt x="16891" y="4788662"/>
                  </a:lnTo>
                  <a:cubicBezTo>
                    <a:pt x="7493" y="4788662"/>
                    <a:pt x="0" y="4781042"/>
                    <a:pt x="0" y="4771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771771"/>
                  </a:lnTo>
                  <a:lnTo>
                    <a:pt x="16891" y="4771771"/>
                  </a:lnTo>
                  <a:lnTo>
                    <a:pt x="16891" y="4754880"/>
                  </a:lnTo>
                  <a:lnTo>
                    <a:pt x="11477372" y="4754880"/>
                  </a:lnTo>
                  <a:lnTo>
                    <a:pt x="11477372" y="4771771"/>
                  </a:lnTo>
                  <a:lnTo>
                    <a:pt x="11460480" y="477177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40080" y="5852160"/>
            <a:ext cx="8412480" cy="585216"/>
            <a:chOff x="0" y="0"/>
            <a:chExt cx="11216640" cy="780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16640" cy="780288"/>
            </a:xfrm>
            <a:custGeom>
              <a:avLst/>
              <a:gdLst/>
              <a:ahLst/>
              <a:cxnLst/>
              <a:rect r="r" b="b" t="t" l="l"/>
              <a:pathLst>
                <a:path h="78028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12166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Training Strategy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40080" y="6492240"/>
            <a:ext cx="8412480" cy="2651760"/>
            <a:chOff x="0" y="0"/>
            <a:chExt cx="11216640" cy="3535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166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14" r="0" b="-1181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1216640" cy="3583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Together, these three callbacks form an automated optimization loop:</a:t>
              </a:r>
            </a:p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Train until optimal  →  Save best state  →  Reduce LR if stuck  →  Stop early if overfitting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210196"/>
            <a:chOff x="0" y="0"/>
            <a:chExt cx="22677120" cy="16135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613595"/>
            </a:xfrm>
            <a:custGeom>
              <a:avLst/>
              <a:gdLst/>
              <a:ahLst/>
              <a:cxnLst/>
              <a:rect r="r" b="b" t="t" l="l"/>
              <a:pathLst>
                <a:path h="161359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613595"/>
                  </a:lnTo>
                  <a:lnTo>
                    <a:pt x="0" y="16135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281" r="0" b="-2153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737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Experimental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Quantitative performance metrics across validation set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237" y="2077717"/>
            <a:ext cx="5628637" cy="3708397"/>
            <a:chOff x="0" y="0"/>
            <a:chExt cx="7504849" cy="49445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3909" y="33909"/>
              <a:ext cx="7437119" cy="4876800"/>
            </a:xfrm>
            <a:custGeom>
              <a:avLst/>
              <a:gdLst/>
              <a:ahLst/>
              <a:cxnLst/>
              <a:rect r="r" b="b" t="t" l="l"/>
              <a:pathLst>
                <a:path h="487680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04938" cy="4944618"/>
            </a:xfrm>
            <a:custGeom>
              <a:avLst/>
              <a:gdLst/>
              <a:ahLst/>
              <a:cxnLst/>
              <a:rect r="r" b="b" t="t" l="l"/>
              <a:pathLst>
                <a:path h="4944618" w="7504938">
                  <a:moveTo>
                    <a:pt x="33909" y="0"/>
                  </a:moveTo>
                  <a:lnTo>
                    <a:pt x="7471028" y="0"/>
                  </a:lnTo>
                  <a:cubicBezTo>
                    <a:pt x="7489698" y="0"/>
                    <a:pt x="7504938" y="15113"/>
                    <a:pt x="7504938" y="33909"/>
                  </a:cubicBezTo>
                  <a:lnTo>
                    <a:pt x="7504938" y="4910709"/>
                  </a:lnTo>
                  <a:cubicBezTo>
                    <a:pt x="7504938" y="4929378"/>
                    <a:pt x="7489825" y="4944618"/>
                    <a:pt x="7471028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7471028" y="4876800"/>
                  </a:lnTo>
                  <a:lnTo>
                    <a:pt x="7471028" y="4910709"/>
                  </a:lnTo>
                  <a:lnTo>
                    <a:pt x="7437120" y="4910709"/>
                  </a:lnTo>
                  <a:lnTo>
                    <a:pt x="7437120" y="33909"/>
                  </a:lnTo>
                  <a:lnTo>
                    <a:pt x="7471028" y="33909"/>
                  </a:lnTo>
                  <a:lnTo>
                    <a:pt x="74710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2194560"/>
            <a:ext cx="5577840" cy="822960"/>
            <a:chOff x="0" y="0"/>
            <a:chExt cx="74371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7437120" cy="1202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🏆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8640" y="3017520"/>
            <a:ext cx="5577840" cy="1371600"/>
            <a:chOff x="0" y="0"/>
            <a:chExt cx="743712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7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80975"/>
              <a:ext cx="7437120" cy="200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40"/>
                </a:lnSpc>
              </a:pPr>
              <a:r>
                <a:rPr lang="en-US" sz="92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4352544"/>
            <a:ext cx="5577840" cy="548640"/>
            <a:chOff x="0" y="0"/>
            <a:chExt cx="74371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Coefficient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" y="4901184"/>
            <a:ext cx="5577840" cy="694944"/>
            <a:chOff x="0" y="0"/>
            <a:chExt cx="743712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8B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Primary Overlap Metric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30261" y="2077717"/>
            <a:ext cx="5628637" cy="3708397"/>
            <a:chOff x="0" y="0"/>
            <a:chExt cx="7504849" cy="49445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3909" y="33909"/>
              <a:ext cx="7437119" cy="4876800"/>
            </a:xfrm>
            <a:custGeom>
              <a:avLst/>
              <a:gdLst/>
              <a:ahLst/>
              <a:cxnLst/>
              <a:rect r="r" b="b" t="t" l="l"/>
              <a:pathLst>
                <a:path h="487680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04938" cy="4944618"/>
            </a:xfrm>
            <a:custGeom>
              <a:avLst/>
              <a:gdLst/>
              <a:ahLst/>
              <a:cxnLst/>
              <a:rect r="r" b="b" t="t" l="l"/>
              <a:pathLst>
                <a:path h="4944618" w="7504938">
                  <a:moveTo>
                    <a:pt x="33909" y="0"/>
                  </a:moveTo>
                  <a:lnTo>
                    <a:pt x="7471028" y="0"/>
                  </a:lnTo>
                  <a:cubicBezTo>
                    <a:pt x="7489698" y="0"/>
                    <a:pt x="7504938" y="15113"/>
                    <a:pt x="7504938" y="33909"/>
                  </a:cubicBezTo>
                  <a:lnTo>
                    <a:pt x="7504938" y="4910709"/>
                  </a:lnTo>
                  <a:cubicBezTo>
                    <a:pt x="7504938" y="4929378"/>
                    <a:pt x="7489825" y="4944618"/>
                    <a:pt x="7471028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7471028" y="4876800"/>
                  </a:lnTo>
                  <a:lnTo>
                    <a:pt x="7471028" y="4910709"/>
                  </a:lnTo>
                  <a:lnTo>
                    <a:pt x="7437120" y="4910709"/>
                  </a:lnTo>
                  <a:lnTo>
                    <a:pt x="7437120" y="33909"/>
                  </a:lnTo>
                  <a:lnTo>
                    <a:pt x="7471028" y="33909"/>
                  </a:lnTo>
                  <a:lnTo>
                    <a:pt x="74710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55664" y="2194560"/>
            <a:ext cx="5577840" cy="822960"/>
            <a:chOff x="0" y="0"/>
            <a:chExt cx="743712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7437120" cy="1202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55664" y="3017520"/>
            <a:ext cx="5577840" cy="1371600"/>
            <a:chOff x="0" y="0"/>
            <a:chExt cx="743712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37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80975"/>
              <a:ext cx="7437120" cy="200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40"/>
                </a:lnSpc>
              </a:pPr>
              <a:r>
                <a:rPr lang="en-US" sz="9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99.7%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55664" y="4352544"/>
            <a:ext cx="5577840" cy="548640"/>
            <a:chOff x="0" y="0"/>
            <a:chExt cx="74371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Pixel Accuracy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55664" y="4901184"/>
            <a:ext cx="5577840" cy="694944"/>
            <a:chOff x="0" y="0"/>
            <a:chExt cx="743712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8B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Correctly Classified Pixels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37285" y="2077717"/>
            <a:ext cx="5628637" cy="3708397"/>
            <a:chOff x="0" y="0"/>
            <a:chExt cx="7504849" cy="49445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33909" y="33909"/>
              <a:ext cx="7437119" cy="4876800"/>
            </a:xfrm>
            <a:custGeom>
              <a:avLst/>
              <a:gdLst/>
              <a:ahLst/>
              <a:cxnLst/>
              <a:rect r="r" b="b" t="t" l="l"/>
              <a:pathLst>
                <a:path h="487680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04938" cy="4944618"/>
            </a:xfrm>
            <a:custGeom>
              <a:avLst/>
              <a:gdLst/>
              <a:ahLst/>
              <a:cxnLst/>
              <a:rect r="r" b="b" t="t" l="l"/>
              <a:pathLst>
                <a:path h="4944618" w="7504938">
                  <a:moveTo>
                    <a:pt x="33909" y="0"/>
                  </a:moveTo>
                  <a:lnTo>
                    <a:pt x="7471028" y="0"/>
                  </a:lnTo>
                  <a:cubicBezTo>
                    <a:pt x="7489698" y="0"/>
                    <a:pt x="7504938" y="15113"/>
                    <a:pt x="7504938" y="33909"/>
                  </a:cubicBezTo>
                  <a:lnTo>
                    <a:pt x="7504938" y="4910709"/>
                  </a:lnTo>
                  <a:cubicBezTo>
                    <a:pt x="7504938" y="4929378"/>
                    <a:pt x="7489825" y="4944618"/>
                    <a:pt x="7471028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7471028" y="4876800"/>
                  </a:lnTo>
                  <a:lnTo>
                    <a:pt x="7471028" y="4910709"/>
                  </a:lnTo>
                  <a:lnTo>
                    <a:pt x="7437120" y="4910709"/>
                  </a:lnTo>
                  <a:lnTo>
                    <a:pt x="7437120" y="33909"/>
                  </a:lnTo>
                  <a:lnTo>
                    <a:pt x="7471028" y="33909"/>
                  </a:lnTo>
                  <a:lnTo>
                    <a:pt x="74710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62688" y="2194560"/>
            <a:ext cx="5577840" cy="822960"/>
            <a:chOff x="0" y="0"/>
            <a:chExt cx="743712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065" r="0" b="-8206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7437120" cy="1202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📐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62688" y="3017520"/>
            <a:ext cx="5577840" cy="1371600"/>
            <a:chOff x="0" y="0"/>
            <a:chExt cx="743712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437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80975"/>
              <a:ext cx="7437120" cy="200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40"/>
                </a:lnSpc>
              </a:pPr>
              <a:r>
                <a:rPr lang="en-US" sz="9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62688" y="4352544"/>
            <a:ext cx="5577840" cy="548640"/>
            <a:chOff x="0" y="0"/>
            <a:chExt cx="74371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Mean IoU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362688" y="4901184"/>
            <a:ext cx="5577840" cy="694944"/>
            <a:chOff x="0" y="0"/>
            <a:chExt cx="7437120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3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393" r="0" b="-10639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4371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8B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Jaccard Index (Stricter)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43638" y="6082246"/>
            <a:ext cx="5615940" cy="3896868"/>
            <a:chOff x="0" y="0"/>
            <a:chExt cx="7487920" cy="51958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25400" y="25400"/>
              <a:ext cx="7437120" cy="5145024"/>
            </a:xfrm>
            <a:custGeom>
              <a:avLst/>
              <a:gdLst/>
              <a:ahLst/>
              <a:cxnLst/>
              <a:rect r="r" b="b" t="t" l="l"/>
              <a:pathLst>
                <a:path h="5145024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145024"/>
                  </a:lnTo>
                  <a:lnTo>
                    <a:pt x="0" y="5145024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487920" cy="5195824"/>
            </a:xfrm>
            <a:custGeom>
              <a:avLst/>
              <a:gdLst/>
              <a:ahLst/>
              <a:cxnLst/>
              <a:rect r="r" b="b" t="t" l="l"/>
              <a:pathLst>
                <a:path h="5195824" w="7487920">
                  <a:moveTo>
                    <a:pt x="25400" y="0"/>
                  </a:moveTo>
                  <a:lnTo>
                    <a:pt x="7462520" y="0"/>
                  </a:lnTo>
                  <a:cubicBezTo>
                    <a:pt x="7476489" y="0"/>
                    <a:pt x="7487920" y="11430"/>
                    <a:pt x="7487920" y="25400"/>
                  </a:cubicBezTo>
                  <a:lnTo>
                    <a:pt x="7487920" y="5170424"/>
                  </a:lnTo>
                  <a:cubicBezTo>
                    <a:pt x="7487920" y="5184394"/>
                    <a:pt x="7476489" y="5195824"/>
                    <a:pt x="7462520" y="5195824"/>
                  </a:cubicBezTo>
                  <a:lnTo>
                    <a:pt x="25400" y="5195824"/>
                  </a:lnTo>
                  <a:cubicBezTo>
                    <a:pt x="11430" y="5195824"/>
                    <a:pt x="0" y="5184394"/>
                    <a:pt x="0" y="5170424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70424"/>
                  </a:lnTo>
                  <a:lnTo>
                    <a:pt x="25400" y="5170424"/>
                  </a:lnTo>
                  <a:lnTo>
                    <a:pt x="25400" y="5145024"/>
                  </a:lnTo>
                  <a:lnTo>
                    <a:pt x="7462520" y="5145024"/>
                  </a:lnTo>
                  <a:lnTo>
                    <a:pt x="7462520" y="5170424"/>
                  </a:lnTo>
                  <a:lnTo>
                    <a:pt x="7437120" y="5170424"/>
                  </a:lnTo>
                  <a:lnTo>
                    <a:pt x="7437120" y="25400"/>
                  </a:lnTo>
                  <a:lnTo>
                    <a:pt x="7462520" y="25400"/>
                  </a:lnTo>
                  <a:lnTo>
                    <a:pt x="7462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841357" y="6035040"/>
            <a:ext cx="4715123" cy="640080"/>
            <a:chOff x="0" y="0"/>
            <a:chExt cx="628683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86832" cy="853440"/>
            </a:xfrm>
            <a:custGeom>
              <a:avLst/>
              <a:gdLst/>
              <a:ahLst/>
              <a:cxnLst/>
              <a:rect r="r" b="b" t="t" l="l"/>
              <a:pathLst>
                <a:path h="853440" w="6286832">
                  <a:moveTo>
                    <a:pt x="0" y="0"/>
                  </a:moveTo>
                  <a:lnTo>
                    <a:pt x="6286832" y="0"/>
                  </a:lnTo>
                  <a:lnTo>
                    <a:pt x="628683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35" r="0" b="-9353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28683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What This Means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523308" y="6729984"/>
            <a:ext cx="5417220" cy="3017520"/>
            <a:chOff x="0" y="0"/>
            <a:chExt cx="7222960" cy="40233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222965" cy="4023360"/>
            </a:xfrm>
            <a:custGeom>
              <a:avLst/>
              <a:gdLst/>
              <a:ahLst/>
              <a:cxnLst/>
              <a:rect r="r" b="b" t="t" l="l"/>
              <a:pathLst>
                <a:path h="4023360" w="7222965">
                  <a:moveTo>
                    <a:pt x="0" y="0"/>
                  </a:moveTo>
                  <a:lnTo>
                    <a:pt x="7222965" y="0"/>
                  </a:lnTo>
                  <a:lnTo>
                    <a:pt x="7222965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468" t="0" r="-21468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222960" cy="4061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0.86 </a:t>
              </a: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strong clinical-grade overlap</a:t>
              </a:r>
            </a:p>
            <a:p>
              <a:pPr algn="l">
                <a:lnSpc>
                  <a:spcPts val="2280"/>
                </a:lnSpc>
              </a:pP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IoU 0.75 </a:t>
              </a: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robust spatial boundary agreement, suitable for neurosurgical planning</a:t>
              </a:r>
            </a:p>
            <a:p>
              <a:pPr algn="l">
                <a:lnSpc>
                  <a:spcPts val="2280"/>
                </a:lnSpc>
              </a:pPr>
            </a:p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99.7% Accuracy </a:t>
              </a: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near-perfect pixel classification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640080" y="5957564"/>
            <a:ext cx="11307814" cy="3945108"/>
          </a:xfrm>
          <a:custGeom>
            <a:avLst/>
            <a:gdLst/>
            <a:ahLst/>
            <a:cxnLst/>
            <a:rect r="r" b="b" t="t" l="l"/>
            <a:pathLst>
              <a:path h="3945108" w="11307814">
                <a:moveTo>
                  <a:pt x="0" y="0"/>
                </a:moveTo>
                <a:lnTo>
                  <a:pt x="11307814" y="0"/>
                </a:lnTo>
                <a:lnTo>
                  <a:pt x="11307814" y="3945108"/>
                </a:lnTo>
                <a:lnTo>
                  <a:pt x="0" y="3945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4" r="0" b="-123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92865" y="3169535"/>
            <a:ext cx="8651135" cy="4376154"/>
          </a:xfrm>
          <a:custGeom>
            <a:avLst/>
            <a:gdLst/>
            <a:ahLst/>
            <a:cxnLst/>
            <a:rect r="r" b="b" t="t" l="l"/>
            <a:pathLst>
              <a:path h="4376154" w="8651135">
                <a:moveTo>
                  <a:pt x="0" y="0"/>
                </a:moveTo>
                <a:lnTo>
                  <a:pt x="8651135" y="0"/>
                </a:lnTo>
                <a:lnTo>
                  <a:pt x="8651135" y="4376155"/>
                </a:lnTo>
                <a:lnTo>
                  <a:pt x="0" y="4376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05" b="-21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20225" y="3720084"/>
            <a:ext cx="8666029" cy="3275058"/>
          </a:xfrm>
          <a:custGeom>
            <a:avLst/>
            <a:gdLst/>
            <a:ahLst/>
            <a:cxnLst/>
            <a:rect r="r" b="b" t="t" l="l"/>
            <a:pathLst>
              <a:path h="3275058" w="8666029">
                <a:moveTo>
                  <a:pt x="0" y="0"/>
                </a:moveTo>
                <a:lnTo>
                  <a:pt x="8666029" y="0"/>
                </a:lnTo>
                <a:lnTo>
                  <a:pt x="8666029" y="3275057"/>
                </a:lnTo>
                <a:lnTo>
                  <a:pt x="0" y="3275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8013" y="447675"/>
            <a:ext cx="127937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</a:t>
            </a:r>
            <a:r>
              <a:rPr lang="en-US" b="true" sz="6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ntitative and Qualitative Evaluation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Strategy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316736"/>
            <a:ext cx="17007840" cy="585216"/>
            <a:chOff x="0" y="0"/>
            <a:chExt cx="22677120" cy="780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283" r="0" b="-5162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67712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0E0E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research notebook to real-world clinical tool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1030" y="2084070"/>
            <a:ext cx="4061460" cy="5158740"/>
            <a:chOff x="0" y="0"/>
            <a:chExt cx="5415280" cy="6878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53644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15280" cy="6878320"/>
            </a:xfrm>
            <a:custGeom>
              <a:avLst/>
              <a:gdLst/>
              <a:ahLst/>
              <a:cxnLst/>
              <a:rect r="r" b="b" t="t" l="l"/>
              <a:pathLst>
                <a:path h="687832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6852920"/>
                  </a:lnTo>
                  <a:cubicBezTo>
                    <a:pt x="5415280" y="6866889"/>
                    <a:pt x="5403850" y="6878320"/>
                    <a:pt x="5389880" y="6878320"/>
                  </a:cubicBezTo>
                  <a:lnTo>
                    <a:pt x="25400" y="6878320"/>
                  </a:lnTo>
                  <a:cubicBezTo>
                    <a:pt x="11430" y="6878320"/>
                    <a:pt x="0" y="6866889"/>
                    <a:pt x="0" y="68529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852920"/>
                  </a:lnTo>
                  <a:lnTo>
                    <a:pt x="25400" y="6852920"/>
                  </a:lnTo>
                  <a:lnTo>
                    <a:pt x="25400" y="6827520"/>
                  </a:lnTo>
                  <a:lnTo>
                    <a:pt x="5389880" y="6827520"/>
                  </a:lnTo>
                  <a:lnTo>
                    <a:pt x="5389880" y="6852920"/>
                  </a:lnTo>
                  <a:lnTo>
                    <a:pt x="5364480" y="685292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94560" y="1975104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77B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94560" y="1975104"/>
            <a:ext cx="914400" cy="914400"/>
            <a:chOff x="0" y="0"/>
            <a:chExt cx="12192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0080" y="2944368"/>
            <a:ext cx="4023360" cy="896112"/>
            <a:chOff x="0" y="0"/>
            <a:chExt cx="5364480" cy="11948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64480" cy="1194816"/>
            </a:xfrm>
            <a:custGeom>
              <a:avLst/>
              <a:gdLst/>
              <a:ahLst/>
              <a:cxnLst/>
              <a:rect r="r" b="b" t="t" l="l"/>
              <a:pathLst>
                <a:path h="11948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94816"/>
                  </a:lnTo>
                  <a:lnTo>
                    <a:pt x="0" y="11948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483" r="0" b="-374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5364480" cy="1318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🔬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0080" y="3840480"/>
            <a:ext cx="4023360" cy="914400"/>
            <a:chOff x="0" y="0"/>
            <a:chExt cx="536448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Trained Model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77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(Kaggle)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846320"/>
            <a:ext cx="3657600" cy="2194560"/>
            <a:chOff x="0" y="0"/>
            <a:chExt cx="4876800" cy="2926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80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U-Net trained &amp; validated, saved as model.keras (372 MB)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644390" y="4644390"/>
            <a:ext cx="440436" cy="38100"/>
            <a:chOff x="0" y="0"/>
            <a:chExt cx="587248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25400" y="0"/>
              <a:ext cx="536448" cy="50800"/>
            </a:xfrm>
            <a:custGeom>
              <a:avLst/>
              <a:gdLst/>
              <a:ahLst/>
              <a:cxnLst/>
              <a:rect r="r" b="b" t="t" l="l"/>
              <a:pathLst>
                <a:path h="508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8B2B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046726" y="2084070"/>
            <a:ext cx="4061460" cy="5158740"/>
            <a:chOff x="0" y="0"/>
            <a:chExt cx="5415280" cy="6878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53644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15280" cy="6878320"/>
            </a:xfrm>
            <a:custGeom>
              <a:avLst/>
              <a:gdLst/>
              <a:ahLst/>
              <a:cxnLst/>
              <a:rect r="r" b="b" t="t" l="l"/>
              <a:pathLst>
                <a:path h="687832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6852920"/>
                  </a:lnTo>
                  <a:cubicBezTo>
                    <a:pt x="5415280" y="6866889"/>
                    <a:pt x="5403850" y="6878320"/>
                    <a:pt x="5389880" y="6878320"/>
                  </a:cubicBezTo>
                  <a:lnTo>
                    <a:pt x="25400" y="6878320"/>
                  </a:lnTo>
                  <a:cubicBezTo>
                    <a:pt x="11430" y="6878320"/>
                    <a:pt x="0" y="6866889"/>
                    <a:pt x="0" y="68529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852920"/>
                  </a:lnTo>
                  <a:lnTo>
                    <a:pt x="25400" y="6852920"/>
                  </a:lnTo>
                  <a:lnTo>
                    <a:pt x="25400" y="6827520"/>
                  </a:lnTo>
                  <a:lnTo>
                    <a:pt x="5389880" y="6827520"/>
                  </a:lnTo>
                  <a:lnTo>
                    <a:pt x="5389880" y="6852920"/>
                  </a:lnTo>
                  <a:lnTo>
                    <a:pt x="5364480" y="685292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20256" y="1975104"/>
            <a:ext cx="914400" cy="914400"/>
            <a:chOff x="0" y="0"/>
            <a:chExt cx="1219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20256" y="1975104"/>
            <a:ext cx="914400" cy="914400"/>
            <a:chOff x="0" y="0"/>
            <a:chExt cx="12192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065776" y="2834640"/>
            <a:ext cx="4023360" cy="1005840"/>
            <a:chOff x="0" y="0"/>
            <a:chExt cx="536448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536448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65776" y="3840480"/>
            <a:ext cx="4023360" cy="914400"/>
            <a:chOff x="0" y="0"/>
            <a:chExt cx="536448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Quantization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Optimization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248656" y="4846320"/>
            <a:ext cx="3657600" cy="2194560"/>
            <a:chOff x="0" y="0"/>
            <a:chExt cx="4876800" cy="2926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87680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quantized for faster inference on standard hospital hardware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70086" y="4644390"/>
            <a:ext cx="440436" cy="38100"/>
            <a:chOff x="0" y="0"/>
            <a:chExt cx="587248" cy="50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0"/>
              <a:ext cx="536448" cy="50800"/>
            </a:xfrm>
            <a:custGeom>
              <a:avLst/>
              <a:gdLst/>
              <a:ahLst/>
              <a:cxnLst/>
              <a:rect r="r" b="b" t="t" l="l"/>
              <a:pathLst>
                <a:path h="508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8B2B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72422" y="2084070"/>
            <a:ext cx="4061460" cy="5158740"/>
            <a:chOff x="0" y="0"/>
            <a:chExt cx="5415280" cy="68783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5400" y="25400"/>
              <a:ext cx="53644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15280" cy="6878320"/>
            </a:xfrm>
            <a:custGeom>
              <a:avLst/>
              <a:gdLst/>
              <a:ahLst/>
              <a:cxnLst/>
              <a:rect r="r" b="b" t="t" l="l"/>
              <a:pathLst>
                <a:path h="687832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6852920"/>
                  </a:lnTo>
                  <a:cubicBezTo>
                    <a:pt x="5415280" y="6866889"/>
                    <a:pt x="5403850" y="6878320"/>
                    <a:pt x="5389880" y="6878320"/>
                  </a:cubicBezTo>
                  <a:lnTo>
                    <a:pt x="25400" y="6878320"/>
                  </a:lnTo>
                  <a:cubicBezTo>
                    <a:pt x="11430" y="6878320"/>
                    <a:pt x="0" y="6866889"/>
                    <a:pt x="0" y="68529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852920"/>
                  </a:lnTo>
                  <a:lnTo>
                    <a:pt x="25400" y="6852920"/>
                  </a:lnTo>
                  <a:lnTo>
                    <a:pt x="25400" y="6827520"/>
                  </a:lnTo>
                  <a:lnTo>
                    <a:pt x="5389880" y="6827520"/>
                  </a:lnTo>
                  <a:lnTo>
                    <a:pt x="5389880" y="6852920"/>
                  </a:lnTo>
                  <a:lnTo>
                    <a:pt x="5364480" y="685292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045952" y="1975104"/>
            <a:ext cx="914400" cy="914400"/>
            <a:chOff x="0" y="0"/>
            <a:chExt cx="121920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045952" y="1975104"/>
            <a:ext cx="914400" cy="914400"/>
            <a:chOff x="0" y="0"/>
            <a:chExt cx="121920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91472" y="2834640"/>
            <a:ext cx="4023360" cy="1005840"/>
            <a:chOff x="0" y="0"/>
            <a:chExt cx="536448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23825"/>
              <a:ext cx="536448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91472" y="3840480"/>
            <a:ext cx="4023360" cy="914400"/>
            <a:chOff x="0" y="0"/>
            <a:chExt cx="536448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52B7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74352" y="4846320"/>
            <a:ext cx="3657600" cy="2194560"/>
            <a:chOff x="0" y="0"/>
            <a:chExt cx="4876800" cy="2926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87680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Python-based interactive web interface for real-time inference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495782" y="4644390"/>
            <a:ext cx="440436" cy="38100"/>
            <a:chOff x="0" y="0"/>
            <a:chExt cx="587248" cy="50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0"/>
              <a:ext cx="536448" cy="50800"/>
            </a:xfrm>
            <a:custGeom>
              <a:avLst/>
              <a:gdLst/>
              <a:ahLst/>
              <a:cxnLst/>
              <a:rect r="r" b="b" t="t" l="l"/>
              <a:pathLst>
                <a:path h="5080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8B2B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898118" y="2084070"/>
            <a:ext cx="4061460" cy="5158740"/>
            <a:chOff x="0" y="0"/>
            <a:chExt cx="5415280" cy="68783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25400" y="25400"/>
              <a:ext cx="53644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415280" cy="6878320"/>
            </a:xfrm>
            <a:custGeom>
              <a:avLst/>
              <a:gdLst/>
              <a:ahLst/>
              <a:cxnLst/>
              <a:rect r="r" b="b" t="t" l="l"/>
              <a:pathLst>
                <a:path h="687832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6852920"/>
                  </a:lnTo>
                  <a:cubicBezTo>
                    <a:pt x="5415280" y="6866889"/>
                    <a:pt x="5403850" y="6878320"/>
                    <a:pt x="5389880" y="6878320"/>
                  </a:cubicBezTo>
                  <a:lnTo>
                    <a:pt x="25400" y="6878320"/>
                  </a:lnTo>
                  <a:cubicBezTo>
                    <a:pt x="11430" y="6878320"/>
                    <a:pt x="0" y="6866889"/>
                    <a:pt x="0" y="68529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852920"/>
                  </a:lnTo>
                  <a:lnTo>
                    <a:pt x="25400" y="6852920"/>
                  </a:lnTo>
                  <a:lnTo>
                    <a:pt x="25400" y="6827520"/>
                  </a:lnTo>
                  <a:lnTo>
                    <a:pt x="5389880" y="6827520"/>
                  </a:lnTo>
                  <a:lnTo>
                    <a:pt x="5389880" y="6852920"/>
                  </a:lnTo>
                  <a:lnTo>
                    <a:pt x="5364480" y="685292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471648" y="1975104"/>
            <a:ext cx="914400" cy="914400"/>
            <a:chOff x="0" y="0"/>
            <a:chExt cx="1219200" cy="1219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471648" y="1975104"/>
            <a:ext cx="914400" cy="914400"/>
            <a:chOff x="0" y="0"/>
            <a:chExt cx="121920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917168" y="2944368"/>
            <a:ext cx="4023360" cy="896112"/>
            <a:chOff x="0" y="0"/>
            <a:chExt cx="5364480" cy="11948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64480" cy="1194816"/>
            </a:xfrm>
            <a:custGeom>
              <a:avLst/>
              <a:gdLst/>
              <a:ahLst/>
              <a:cxnLst/>
              <a:rect r="r" b="b" t="t" l="l"/>
              <a:pathLst>
                <a:path h="11948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94816"/>
                  </a:lnTo>
                  <a:lnTo>
                    <a:pt x="0" y="11948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483" r="0" b="-374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23825"/>
              <a:ext cx="5364480" cy="1318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🏥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917168" y="3840480"/>
            <a:ext cx="4023360" cy="914400"/>
            <a:chOff x="0" y="0"/>
            <a:chExt cx="536448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3644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100048" y="4846320"/>
            <a:ext cx="3657600" cy="2194560"/>
            <a:chOff x="0" y="0"/>
            <a:chExt cx="4876800" cy="2926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76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87680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MRI scan → Get segmentation mask + overlay within seconds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27383" y="7485383"/>
            <a:ext cx="17033243" cy="1777336"/>
            <a:chOff x="0" y="0"/>
            <a:chExt cx="22710991" cy="236978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22677119" cy="2335911"/>
            </a:xfrm>
            <a:custGeom>
              <a:avLst/>
              <a:gdLst/>
              <a:ahLst/>
              <a:cxnLst/>
              <a:rect r="r" b="b" t="t" l="l"/>
              <a:pathLst>
                <a:path h="2335911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335911"/>
                  </a:lnTo>
                  <a:lnTo>
                    <a:pt x="0" y="2335911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710902" cy="2369695"/>
            </a:xfrm>
            <a:custGeom>
              <a:avLst/>
              <a:gdLst/>
              <a:ahLst/>
              <a:cxnLst/>
              <a:rect r="r" b="b" t="t" l="l"/>
              <a:pathLst>
                <a:path h="2369695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352802"/>
                  </a:lnTo>
                  <a:cubicBezTo>
                    <a:pt x="22710902" y="2362200"/>
                    <a:pt x="22703282" y="2369693"/>
                    <a:pt x="22694010" y="2369693"/>
                  </a:cubicBezTo>
                  <a:lnTo>
                    <a:pt x="16891" y="2369693"/>
                  </a:lnTo>
                  <a:cubicBezTo>
                    <a:pt x="7620" y="2369820"/>
                    <a:pt x="0" y="2362200"/>
                    <a:pt x="0" y="235280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352802"/>
                  </a:lnTo>
                  <a:lnTo>
                    <a:pt x="16891" y="2352802"/>
                  </a:lnTo>
                  <a:lnTo>
                    <a:pt x="16891" y="2335911"/>
                  </a:lnTo>
                  <a:lnTo>
                    <a:pt x="22694010" y="2335911"/>
                  </a:lnTo>
                  <a:lnTo>
                    <a:pt x="22694010" y="2352802"/>
                  </a:lnTo>
                  <a:lnTo>
                    <a:pt x="22677120" y="2352802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731520" y="7589520"/>
            <a:ext cx="3657600" cy="548640"/>
            <a:chOff x="0" y="0"/>
            <a:chExt cx="487680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🔑  App Features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31520" y="8266176"/>
            <a:ext cx="274320" cy="274320"/>
            <a:chOff x="0" y="0"/>
            <a:chExt cx="365760" cy="3657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97280" y="8193024"/>
            <a:ext cx="3657600" cy="512064"/>
            <a:chOff x="0" y="0"/>
            <a:chExt cx="487680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JPG/PNG/TIF MRI scans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029200" y="8266176"/>
            <a:ext cx="274320" cy="274320"/>
            <a:chOff x="0" y="0"/>
            <a:chExt cx="365760" cy="3657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394960" y="8193024"/>
            <a:ext cx="3657600" cy="512064"/>
            <a:chOff x="0" y="0"/>
            <a:chExt cx="487680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AI segmentation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26880" y="8266176"/>
            <a:ext cx="274320" cy="274320"/>
            <a:chOff x="0" y="0"/>
            <a:chExt cx="365760" cy="365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692640" y="8193024"/>
            <a:ext cx="3657600" cy="512064"/>
            <a:chOff x="0" y="0"/>
            <a:chExt cx="487680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mask visualization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624560" y="8266176"/>
            <a:ext cx="274320" cy="274320"/>
            <a:chOff x="0" y="0"/>
            <a:chExt cx="365760" cy="3657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990320" y="8193024"/>
            <a:ext cx="3657600" cy="512064"/>
            <a:chOff x="0" y="0"/>
            <a:chExt cx="487680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8F4F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Overlay fusion view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2B4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365760"/>
            <a:ext cx="17007840" cy="1005840"/>
            <a:chOff x="0" y="0"/>
            <a:chExt cx="2267712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74" r="0" b="-2794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267712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Future Work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9590" y="1809750"/>
            <a:ext cx="10096500" cy="6256020"/>
            <a:chOff x="0" y="0"/>
            <a:chExt cx="13462000" cy="8341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13411200" cy="8290560"/>
            </a:xfrm>
            <a:custGeom>
              <a:avLst/>
              <a:gdLst/>
              <a:ahLst/>
              <a:cxnLst/>
              <a:rect r="r" b="b" t="t" l="l"/>
              <a:pathLst>
                <a:path h="829056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62000" cy="8341360"/>
            </a:xfrm>
            <a:custGeom>
              <a:avLst/>
              <a:gdLst/>
              <a:ahLst/>
              <a:cxnLst/>
              <a:rect r="r" b="b" t="t" l="l"/>
              <a:pathLst>
                <a:path h="8341360" w="13462000">
                  <a:moveTo>
                    <a:pt x="25400" y="0"/>
                  </a:moveTo>
                  <a:lnTo>
                    <a:pt x="13436600" y="0"/>
                  </a:lnTo>
                  <a:cubicBezTo>
                    <a:pt x="13450570" y="0"/>
                    <a:pt x="13462000" y="11430"/>
                    <a:pt x="13462000" y="25400"/>
                  </a:cubicBezTo>
                  <a:lnTo>
                    <a:pt x="13462000" y="8315960"/>
                  </a:lnTo>
                  <a:cubicBezTo>
                    <a:pt x="13462000" y="8329930"/>
                    <a:pt x="13450570" y="8341360"/>
                    <a:pt x="13436600" y="8341360"/>
                  </a:cubicBezTo>
                  <a:lnTo>
                    <a:pt x="25400" y="8341360"/>
                  </a:lnTo>
                  <a:cubicBezTo>
                    <a:pt x="11430" y="8341360"/>
                    <a:pt x="0" y="8329930"/>
                    <a:pt x="0" y="8315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315960"/>
                  </a:lnTo>
                  <a:lnTo>
                    <a:pt x="25400" y="8315960"/>
                  </a:lnTo>
                  <a:lnTo>
                    <a:pt x="25400" y="8290560"/>
                  </a:lnTo>
                  <a:lnTo>
                    <a:pt x="13436600" y="8290560"/>
                  </a:lnTo>
                  <a:lnTo>
                    <a:pt x="13436600" y="8315960"/>
                  </a:lnTo>
                  <a:lnTo>
                    <a:pt x="13411200" y="8315960"/>
                  </a:lnTo>
                  <a:lnTo>
                    <a:pt x="13411200" y="25400"/>
                  </a:lnTo>
                  <a:lnTo>
                    <a:pt x="13436600" y="25400"/>
                  </a:lnTo>
                  <a:lnTo>
                    <a:pt x="134366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1828800"/>
            <a:ext cx="10058400" cy="768096"/>
            <a:chOff x="0" y="0"/>
            <a:chExt cx="1341120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161" r="0" b="-2051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112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Key Achievements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2779776"/>
            <a:ext cx="146304" cy="914400"/>
            <a:chOff x="0" y="0"/>
            <a:chExt cx="195072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3856" y="2779776"/>
            <a:ext cx="9144000" cy="512064"/>
            <a:chOff x="0" y="0"/>
            <a:chExt cx="121920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Coefficient 0.86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3856" y="3291840"/>
            <a:ext cx="9144000" cy="512064"/>
            <a:chOff x="0" y="0"/>
            <a:chExt cx="121920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clinical-grade tumor segmentation accuracy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114800"/>
            <a:ext cx="146304" cy="914400"/>
            <a:chOff x="0" y="0"/>
            <a:chExt cx="195072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3856" y="4114800"/>
            <a:ext cx="9144000" cy="512064"/>
            <a:chOff x="0" y="0"/>
            <a:chExt cx="121920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Skip Connections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33856" y="4626864"/>
            <a:ext cx="9144000" cy="512064"/>
            <a:chOff x="0" y="0"/>
            <a:chExt cx="1219200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Proved essential for precise spatial boundary recovery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5449824"/>
            <a:ext cx="146304" cy="914400"/>
            <a:chOff x="0" y="0"/>
            <a:chExt cx="195072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33856" y="5449824"/>
            <a:ext cx="9144000" cy="512064"/>
            <a:chOff x="0" y="0"/>
            <a:chExt cx="121920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Hybrid Loss Function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3856" y="5961888"/>
            <a:ext cx="9144000" cy="512064"/>
            <a:chOff x="0" y="0"/>
            <a:chExt cx="1219200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BCE + Dice solved the class imbalance challenge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6784848"/>
            <a:ext cx="146304" cy="914400"/>
            <a:chOff x="0" y="0"/>
            <a:chExt cx="195072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5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33856" y="6784848"/>
            <a:ext cx="9144000" cy="512064"/>
            <a:chOff x="0" y="0"/>
            <a:chExt cx="1219200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Deployment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33856" y="7296912"/>
            <a:ext cx="9144000" cy="512064"/>
            <a:chOff x="0" y="0"/>
            <a:chExt cx="121920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Bridged the gap between research and clinical practice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53750" y="1809750"/>
            <a:ext cx="6804660" cy="6256020"/>
            <a:chOff x="0" y="0"/>
            <a:chExt cx="9072880" cy="8341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25400"/>
              <a:ext cx="9022080" cy="8290560"/>
            </a:xfrm>
            <a:custGeom>
              <a:avLst/>
              <a:gdLst/>
              <a:ahLst/>
              <a:cxnLst/>
              <a:rect r="r" b="b" t="t" l="l"/>
              <a:pathLst>
                <a:path h="82905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132D4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072880" cy="8341360"/>
            </a:xfrm>
            <a:custGeom>
              <a:avLst/>
              <a:gdLst/>
              <a:ahLst/>
              <a:cxnLst/>
              <a:rect r="r" b="b" t="t" l="l"/>
              <a:pathLst>
                <a:path h="8341360" w="9072880">
                  <a:moveTo>
                    <a:pt x="25400" y="0"/>
                  </a:moveTo>
                  <a:lnTo>
                    <a:pt x="9047480" y="0"/>
                  </a:lnTo>
                  <a:cubicBezTo>
                    <a:pt x="9061450" y="0"/>
                    <a:pt x="9072880" y="11430"/>
                    <a:pt x="9072880" y="25400"/>
                  </a:cubicBezTo>
                  <a:lnTo>
                    <a:pt x="9072880" y="8315960"/>
                  </a:lnTo>
                  <a:cubicBezTo>
                    <a:pt x="9072880" y="8329930"/>
                    <a:pt x="9061450" y="8341360"/>
                    <a:pt x="9047480" y="8341360"/>
                  </a:cubicBezTo>
                  <a:lnTo>
                    <a:pt x="25400" y="8341360"/>
                  </a:lnTo>
                  <a:cubicBezTo>
                    <a:pt x="11430" y="8341360"/>
                    <a:pt x="0" y="8329930"/>
                    <a:pt x="0" y="8315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8315960"/>
                  </a:lnTo>
                  <a:lnTo>
                    <a:pt x="25400" y="8315960"/>
                  </a:lnTo>
                  <a:lnTo>
                    <a:pt x="25400" y="8290560"/>
                  </a:lnTo>
                  <a:lnTo>
                    <a:pt x="9047480" y="8290560"/>
                  </a:lnTo>
                  <a:lnTo>
                    <a:pt x="9047480" y="8315960"/>
                  </a:lnTo>
                  <a:lnTo>
                    <a:pt x="9022080" y="8315960"/>
                  </a:lnTo>
                  <a:lnTo>
                    <a:pt x="9022080" y="25400"/>
                  </a:lnTo>
                  <a:lnTo>
                    <a:pt x="9047480" y="25400"/>
                  </a:lnTo>
                  <a:lnTo>
                    <a:pt x="90474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972800" y="1828800"/>
            <a:ext cx="6766560" cy="768096"/>
            <a:chOff x="0" y="0"/>
            <a:chExt cx="902208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22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653" r="0" b="-1216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0220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🔭  Future Work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47120" y="2834640"/>
            <a:ext cx="329184" cy="329184"/>
            <a:chOff x="0" y="0"/>
            <a:chExt cx="438912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40896" y="2779776"/>
            <a:ext cx="5760720" cy="512064"/>
            <a:chOff x="0" y="0"/>
            <a:chExt cx="768096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680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Attention U-Net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740896" y="3291840"/>
            <a:ext cx="5760720" cy="731520"/>
            <a:chOff x="0" y="0"/>
            <a:chExt cx="768096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8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80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Focus on smaller lesions using attention gates within encoder blocks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247120" y="4480560"/>
            <a:ext cx="329184" cy="329184"/>
            <a:chOff x="0" y="0"/>
            <a:chExt cx="438912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40896" y="4425696"/>
            <a:ext cx="5760720" cy="512064"/>
            <a:chOff x="0" y="0"/>
            <a:chExt cx="768096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680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Multi-Modal MRI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740896" y="4937760"/>
            <a:ext cx="5760720" cy="731520"/>
            <a:chOff x="0" y="0"/>
            <a:chExt cx="768096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680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Incorporate T1, T2 &amp; FLAIR sequences for richer diagnostics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247120" y="6126480"/>
            <a:ext cx="329184" cy="329184"/>
            <a:chOff x="0" y="0"/>
            <a:chExt cx="438912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740896" y="6071616"/>
            <a:ext cx="5760720" cy="512064"/>
            <a:chOff x="0" y="0"/>
            <a:chExt cx="768096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8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6809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0E0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3D Segmentation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740896" y="6583680"/>
            <a:ext cx="5760720" cy="731520"/>
            <a:chOff x="0" y="0"/>
            <a:chExt cx="7680960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8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680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 to volumetric MRI for full 3D tumor delineation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0" y="8412480"/>
            <a:ext cx="18288000" cy="1874520"/>
            <a:chOff x="0" y="0"/>
            <a:chExt cx="24384000" cy="2499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0" cy="2499360"/>
            </a:xfrm>
            <a:custGeom>
              <a:avLst/>
              <a:gdLst/>
              <a:ahLst/>
              <a:cxnLst/>
              <a:rect r="r" b="b" t="t" l="l"/>
              <a:pathLst>
                <a:path h="24993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99360"/>
                  </a:lnTo>
                  <a:lnTo>
                    <a:pt x="0" y="24993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0" y="8503920"/>
            <a:ext cx="18288000" cy="1005840"/>
            <a:chOff x="0" y="0"/>
            <a:chExt cx="24384000" cy="1341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2438400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·  Questions?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0" y="9473184"/>
            <a:ext cx="18288000" cy="548640"/>
            <a:chOff x="0" y="0"/>
            <a:chExt cx="2438400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438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8B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 Dr. Samar M. Nour  |  Helwan National University, Faculty of Engineering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DAHI8l0QbnA</dc:identifier>
  <dcterms:modified xsi:type="dcterms:W3CDTF">2011-08-01T06:04:30Z</dcterms:modified>
  <cp:revision>1</cp:revision>
  <dc:title>a</dc:title>
</cp:coreProperties>
</file>